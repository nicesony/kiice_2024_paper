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2" r:id="rId1"/>
  </p:sldMasterIdLst>
  <p:notesMasterIdLst>
    <p:notesMasterId r:id="rId17"/>
  </p:notesMasterIdLst>
  <p:sldIdLst>
    <p:sldId id="256" r:id="rId2"/>
    <p:sldId id="258" r:id="rId3"/>
    <p:sldId id="287" r:id="rId4"/>
    <p:sldId id="301" r:id="rId5"/>
    <p:sldId id="288" r:id="rId6"/>
    <p:sldId id="307" r:id="rId7"/>
    <p:sldId id="312" r:id="rId8"/>
    <p:sldId id="313" r:id="rId9"/>
    <p:sldId id="309" r:id="rId10"/>
    <p:sldId id="292" r:id="rId11"/>
    <p:sldId id="311" r:id="rId12"/>
    <p:sldId id="293" r:id="rId13"/>
    <p:sldId id="314" r:id="rId14"/>
    <p:sldId id="305" r:id="rId15"/>
    <p:sldId id="257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36" autoAdjust="0"/>
    <p:restoredTop sz="94660"/>
  </p:normalViewPr>
  <p:slideViewPr>
    <p:cSldViewPr snapToGrid="0">
      <p:cViewPr varScale="1">
        <p:scale>
          <a:sx n="86" d="100"/>
          <a:sy n="86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08AC2-3804-48E6-B584-9D12C0891305}" type="datetimeFigureOut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9AFC9-FBF2-4913-8394-035E9492BF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980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1E8A1-6DA8-4496-BCE8-03ED561CC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760"/>
            <a:ext cx="10515600" cy="2890202"/>
          </a:xfrm>
        </p:spPr>
        <p:txBody>
          <a:bodyPr anchor="b">
            <a:normAutofit/>
          </a:bodyPr>
          <a:lstStyle>
            <a:lvl1pPr algn="l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24CCC-3D44-4BB5-AA35-A21607EF6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06150"/>
            <a:ext cx="10515600" cy="248348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80F6-1855-44E9-BA95-5E00A06E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18E1A-D50E-4ED5-A2BD-C3D55AB0C6CC}" type="datetime1">
              <a:rPr lang="en-US" altLang="ko-KR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D7FFD-570A-4968-B943-AF87BB67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AI_RUNNER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E6A8-0665-4714-B241-6AFBA8C6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89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A8A8-ECDA-4018-ABB4-CC22892B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0AE7C-51AF-4F0E-B5A3-8C7E1026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28C09-A717-49AB-B60E-433BC469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55312-92FF-47B9-8369-FBED633237A2}" type="datetime1">
              <a:rPr lang="en-US" altLang="ko-KR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1A47A-6E5A-4754-8B43-9CE55616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AI_RUNNER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A1EB-7AC7-4F86-90C0-AA980D88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901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5957-C46F-4F17-BC8C-6507E676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65760"/>
            <a:ext cx="10515600" cy="382786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9661B-6633-4C8B-8B9C-E514DF851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43817"/>
            <a:ext cx="10515600" cy="16458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274BF-C1CD-4709-B0A0-E9407DBE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F417-1297-4DDA-875F-AB6604290788}" type="datetime1">
              <a:rPr lang="en-US" altLang="ko-KR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ADB94-0A5B-4B56-B0B1-1FF5580A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AI_RUNNER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A668A-35AE-4CDF-AC4C-2BEEA9EE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1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F1FD-0E96-4963-9F09-92861572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9E5F0-B650-4AFF-B90E-23B378684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40876"/>
            <a:ext cx="5181600" cy="42360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1747B-302D-476E-8F4F-E4B114C66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0876"/>
            <a:ext cx="5181600" cy="4236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0577D-22F7-4958-BB3D-6C9265EA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8B2D-F458-4094-A28D-17135705DEB7}" type="datetime1">
              <a:rPr lang="en-US" altLang="ko-KR" smtClean="0"/>
              <a:t>5/24/2024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C5B46-A8FB-4683-9618-3F6E0738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AI_RUNNER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887BD-93E9-4181-9D7F-940C3E17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013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3D79-FA27-4567-9032-AF722733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7C1BF-703F-4992-BB0C-EB1E579C7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51823"/>
            <a:ext cx="5157787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2FCE1-6DC0-43B5-8016-89FD4AF5A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54741"/>
            <a:ext cx="5157787" cy="32349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FED7A-67D0-43CC-889A-25F884964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51823"/>
            <a:ext cx="5183188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31C176-48F2-44EC-B3A2-A144403D5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54741"/>
            <a:ext cx="5183188" cy="3234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9187B8-AC48-4FE7-8658-8A31E373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52E0C-FEE4-4C8B-8333-FED7743B7136}" type="datetime1">
              <a:rPr lang="en-US" altLang="ko-KR" smtClean="0"/>
              <a:t>5/24/2024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AB465-E22E-45DC-89C9-406121BC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AI_RUNNER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9D1CF-F964-4405-8677-5F9E2A02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92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3453-DD0F-41C0-8F4A-5DC343F5E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E6313-506F-4456-B3D9-D9655538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86799-D52B-4D9A-8DF4-E7367C186CBA}" type="datetime1">
              <a:rPr lang="en-US" altLang="ko-KR" smtClean="0"/>
              <a:t>5/24/2024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26068-7707-41EC-93EF-A24CAF8F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AI_RUNNER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C8A3C-8C01-4039-B47B-57D84975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811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892633-8C77-419D-B24D-2B3D44DB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89F4-6D2E-4E12-8BD7-B7463BDC19D6}" type="datetime1">
              <a:rPr lang="en-US" altLang="ko-KR" smtClean="0"/>
              <a:t>5/24/2024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49D59-0A88-4A14-A740-4CCD9B52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AI_RUNNER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3DEF9-802F-444E-92D2-397862EE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892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3C20-3881-4F15-94F7-9D7B9F9E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8F40F-6C2A-48EC-8F16-DA179A1DA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4638" y="457201"/>
            <a:ext cx="5800749" cy="540385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36B7E-D33D-48C7-97AC-5C0D9874F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4343400" cy="2211387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49BC5-FF58-463A-B4FA-F0F912F1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9FD8F-C14C-4BD9-B2EF-14E4EBCC0877}" type="datetime1">
              <a:rPr lang="en-US" altLang="ko-KR" smtClean="0"/>
              <a:t>5/24/2024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072D7-4A2A-407F-A084-6AE8DD00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AI_RUNNER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4C41C-C368-475C-BDC1-DC5B29C7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21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67B0-865B-44ED-9DFE-36C73B0C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C5CF7-138A-437C-9E0A-FF4179970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61462" y="457201"/>
            <a:ext cx="5793925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17822-7770-4117-96A2-8D2FF0A01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64424"/>
            <a:ext cx="4343400" cy="2204564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95030-39C7-4814-A766-1A3E094E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900A0-6556-4228-9BA4-F17DB7375F64}" type="datetime1">
              <a:rPr lang="en-US" altLang="ko-KR" smtClean="0"/>
              <a:t>5/24/2024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F02CD-DC87-47B6-96C4-F6470B1D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AI_RUNNER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FF531-02C2-4C1D-A692-70403780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22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26EC-DC54-4882-9D58-F201EA25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04E7C-4CBA-49AF-B24C-1A1FF51C2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3C727-C0C7-4BBA-9CF5-6C1FAC76B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82864-C267-4713-98E7-3196B7BF1E39}" type="datetime1">
              <a:rPr lang="en-US" altLang="ko-KR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03986-C5B4-4956-AC6F-4F36186B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AI_RUNNER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5F941-E847-4C51-97D6-21066B26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928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0338D2-D9EE-4B67-97C1-08ABD5745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53848" y="365125"/>
            <a:ext cx="3999952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B1422-6C1E-4422-80E8-34B0092FB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626546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8B53C-3084-4BC0-A80E-DB41C04C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03EE4-FCB1-4455-8CE6-80EEECD9C4F1}" type="datetime1">
              <a:rPr lang="en-US" altLang="ko-KR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6BFDE-DC70-4A6E-90B8-337FC472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AI_RUNNER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3578F-39AE-4F6F-9614-32EF672E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4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818BD-D734-48A1-8CC0-609D11E5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09728" tIns="109728" rIns="109728" bIns="91440"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D215A-D2A1-4903-A905-F8B06EF41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0875"/>
            <a:ext cx="10515600" cy="4236087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2B88A-7A1D-4AA1-8536-28DC13D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92590-FF1F-4E71-B8C9-65710E6C3E63}" type="datetime1">
              <a:rPr lang="en-US" altLang="ko-KR" smtClean="0"/>
              <a:t>5/24/2024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FE925-0C4B-4BAE-9799-3A9D46D92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AI_RUNNER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AD54-E5C5-4D48-8592-BB22F0A85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60201-1C40-4B39-813D-5CD9493BAE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27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hf hdr="0" dt="0"/>
  <p:txStyles>
    <p:titleStyle>
      <a:lvl1pPr algn="l" defTabSz="914400" rtl="0" eaLnBrk="1" latinLnBrk="0" hangingPunct="1">
        <a:lnSpc>
          <a:spcPct val="114000"/>
        </a:lnSpc>
        <a:spcBef>
          <a:spcPct val="0"/>
        </a:spcBef>
        <a:buNone/>
        <a:defRPr lang="en-US" sz="5400" b="1" kern="1200" spc="30" smtClean="0">
          <a:gradFill>
            <a:gsLst>
              <a:gs pos="100000">
                <a:schemeClr val="tx2"/>
              </a:gs>
              <a:gs pos="0">
                <a:schemeClr val="accent1"/>
              </a:gs>
            </a:gsLst>
            <a:lin ang="0" scaled="1"/>
          </a:gradFill>
          <a:latin typeface="Aharoni" panose="02010803020104030203" pitchFamily="2" charset="-79"/>
          <a:ea typeface="+mn-ea"/>
          <a:cs typeface="Angsana New" panose="02020603050405020304" pitchFamily="18" charset="-34"/>
        </a:defRPr>
      </a:lvl1pPr>
    </p:titleStyle>
    <p:bodyStyle>
      <a:lvl1pPr marL="228600" indent="-228600" algn="l" defTabSz="914400" rtl="0" eaLnBrk="1" latinLnBrk="0" hangingPunct="1">
        <a:lnSpc>
          <a:spcPct val="115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 spc="2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5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 spc="2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5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 spc="2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5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 spc="2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5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 spc="2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ieeexplore.ieee.org/document/10155763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syoon@kongju.ac.kr" TargetMode="External"/><Relationship Id="rId2" Type="http://schemas.openxmlformats.org/officeDocument/2006/relationships/hyperlink" Target="mailto:songunhee5426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9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666CBED-99E2-A936-01E8-7816BD582EA2}"/>
              </a:ext>
            </a:extLst>
          </p:cNvPr>
          <p:cNvCxnSpPr>
            <a:cxnSpLocks/>
          </p:cNvCxnSpPr>
          <p:nvPr/>
        </p:nvCxnSpPr>
        <p:spPr>
          <a:xfrm>
            <a:off x="4023171" y="3855486"/>
            <a:ext cx="4142600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F52CE8-0C32-8554-1783-EBEE60A40083}"/>
              </a:ext>
            </a:extLst>
          </p:cNvPr>
          <p:cNvSpPr txBox="1"/>
          <p:nvPr/>
        </p:nvSpPr>
        <p:spPr>
          <a:xfrm>
            <a:off x="2947285" y="2465362"/>
            <a:ext cx="6596211" cy="1390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커리큘럼 학습의 우선순위 정책에 </a:t>
            </a:r>
            <a:endParaRPr lang="en-US" altLang="ko-KR" sz="2800" b="1" kern="0" spc="0" dirty="0">
              <a:solidFill>
                <a:srgbClr val="000000"/>
              </a:solidFill>
              <a:effectLst/>
              <a:latin typeface="휴먼명조"/>
              <a:ea typeface="휴먼명조"/>
            </a:endParaRPr>
          </a:p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따른 이미지 분류 성능 비교</a:t>
            </a:r>
            <a:endParaRPr lang="ko-KR" altLang="en-US" sz="2800" kern="0" spc="0" dirty="0">
              <a:solidFill>
                <a:srgbClr val="000000"/>
              </a:solidFill>
              <a:effectLst/>
              <a:latin typeface="한양신명조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800D3D-6330-D39A-F170-B9A1604D06E3}"/>
              </a:ext>
            </a:extLst>
          </p:cNvPr>
          <p:cNvSpPr txBox="1"/>
          <p:nvPr/>
        </p:nvSpPr>
        <p:spPr>
          <a:xfrm>
            <a:off x="3505926" y="3881762"/>
            <a:ext cx="5177086" cy="369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정보통신학회 춘계종합학술 대회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0839410-E264-46B1-B753-D59C8CB1F0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7" t="11295" r="51652" b="56822"/>
          <a:stretch/>
        </p:blipFill>
        <p:spPr>
          <a:xfrm>
            <a:off x="5679234" y="6464918"/>
            <a:ext cx="1132311" cy="3681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891EFE-0693-80FF-74FD-CABCDA18D5B7}"/>
              </a:ext>
            </a:extLst>
          </p:cNvPr>
          <p:cNvSpPr txBox="1"/>
          <p:nvPr/>
        </p:nvSpPr>
        <p:spPr>
          <a:xfrm>
            <a:off x="5562602" y="6126364"/>
            <a:ext cx="14898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손건희</a:t>
            </a:r>
            <a:r>
              <a:rPr lang="en-US" altLang="ko-KR" sz="1600" u="sng" dirty="0"/>
              <a:t>,</a:t>
            </a:r>
            <a:r>
              <a:rPr lang="en-US" altLang="ko-KR" sz="1600" dirty="0"/>
              <a:t> </a:t>
            </a:r>
            <a:r>
              <a:rPr lang="ko-KR" altLang="en-US" sz="1600" dirty="0"/>
              <a:t>윤성현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184430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89DBDE-7857-C09A-C621-8D251378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800" y="6393247"/>
            <a:ext cx="2743200" cy="365125"/>
          </a:xfrm>
        </p:spPr>
        <p:txBody>
          <a:bodyPr/>
          <a:lstStyle/>
          <a:p>
            <a:fld id="{D3060201-1C40-4B39-813D-5CD9493BAEED}" type="slidenum">
              <a:rPr lang="en-US" smtClean="0"/>
              <a:t>2</a:t>
            </a:fld>
            <a:endParaRPr 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42FF751-3820-8E67-A8E9-8E6722B19A58}"/>
              </a:ext>
            </a:extLst>
          </p:cNvPr>
          <p:cNvCxnSpPr/>
          <p:nvPr/>
        </p:nvCxnSpPr>
        <p:spPr>
          <a:xfrm>
            <a:off x="336000" y="6356350"/>
            <a:ext cx="11520000" cy="0"/>
          </a:xfrm>
          <a:prstGeom prst="line">
            <a:avLst/>
          </a:prstGeom>
          <a:ln w="63500" cmpd="dbl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7AE42FD-771C-5070-9A3C-FC47B06C93B6}"/>
              </a:ext>
            </a:extLst>
          </p:cNvPr>
          <p:cNvSpPr txBox="1"/>
          <p:nvPr/>
        </p:nvSpPr>
        <p:spPr>
          <a:xfrm>
            <a:off x="336000" y="339830"/>
            <a:ext cx="1322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highlight>
                  <a:srgbClr val="00FFFF"/>
                </a:highlight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 </a:t>
            </a:r>
            <a:r>
              <a:rPr lang="en-US" altLang="ko-KR" sz="2400" b="1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Index</a:t>
            </a:r>
            <a:endParaRPr lang="ko-KR" altLang="en-US" sz="2400" b="1" dirty="0">
              <a:latin typeface="210 청춘시대 R" panose="02020603020101020101" pitchFamily="18" charset="-127"/>
              <a:ea typeface="210 청춘시대 R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DFEA74-BDBB-E5F6-70ED-3DDEACD72578}"/>
              </a:ext>
            </a:extLst>
          </p:cNvPr>
          <p:cNvSpPr txBox="1"/>
          <p:nvPr/>
        </p:nvSpPr>
        <p:spPr>
          <a:xfrm>
            <a:off x="580744" y="1279815"/>
            <a:ext cx="11074053" cy="3072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lnSpc>
                <a:spcPct val="200000"/>
              </a:lnSpc>
              <a:buFont typeface="+mj-lt"/>
              <a:buAutoNum type="romanUcPeriod"/>
            </a:pPr>
            <a:r>
              <a:rPr lang="ko-KR" altLang="en-US" sz="2000" b="1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커리큘럼 학습이란</a:t>
            </a:r>
            <a:r>
              <a:rPr lang="en-US" altLang="ko-KR" sz="2000" b="1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?</a:t>
            </a:r>
          </a:p>
          <a:p>
            <a:pPr marL="400050" indent="-400050">
              <a:lnSpc>
                <a:spcPct val="200000"/>
              </a:lnSpc>
              <a:buFont typeface="+mj-lt"/>
              <a:buAutoNum type="romanUcPeriod"/>
            </a:pPr>
            <a:r>
              <a:rPr lang="ko-KR" altLang="en-US" sz="2000" b="1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제안한 방법</a:t>
            </a:r>
            <a:endParaRPr lang="en-US" altLang="ko-KR" sz="2000" b="1" dirty="0">
              <a:latin typeface="210 청춘시대 R" panose="02020603020101020101" pitchFamily="18" charset="-127"/>
              <a:ea typeface="210 청춘시대 R" panose="02020603020101020101" pitchFamily="18" charset="-127"/>
              <a:cs typeface="Times New Roman" panose="02020603050405020304" pitchFamily="18" charset="0"/>
            </a:endParaRPr>
          </a:p>
          <a:p>
            <a:pPr marL="400050" indent="-400050">
              <a:lnSpc>
                <a:spcPct val="200000"/>
              </a:lnSpc>
              <a:buFont typeface="+mj-lt"/>
              <a:buAutoNum type="romanUcPeriod"/>
            </a:pPr>
            <a:r>
              <a:rPr lang="ko-KR" altLang="en-US" sz="2000" b="1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실험 설계</a:t>
            </a:r>
            <a:r>
              <a:rPr lang="en-US" altLang="ko-KR" sz="2000" b="1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000" b="1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</a:t>
            </a:r>
            <a:endParaRPr lang="en-US" altLang="ko-KR" sz="2000" b="1" dirty="0">
              <a:latin typeface="210 청춘시대 R" panose="02020603020101020101" pitchFamily="18" charset="-127"/>
              <a:ea typeface="210 청춘시대 R" panose="02020603020101020101" pitchFamily="18" charset="-127"/>
              <a:cs typeface="Times New Roman" panose="02020603050405020304" pitchFamily="18" charset="0"/>
            </a:endParaRPr>
          </a:p>
          <a:p>
            <a:pPr marL="400050" indent="-400050">
              <a:lnSpc>
                <a:spcPct val="200000"/>
              </a:lnSpc>
              <a:buFont typeface="+mj-lt"/>
              <a:buAutoNum type="romanUcPeriod"/>
            </a:pPr>
            <a:r>
              <a:rPr lang="ko-KR" altLang="en-US" sz="2000" b="1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실험 결과 및 분석</a:t>
            </a:r>
            <a:endParaRPr lang="en-US" altLang="ko-KR" sz="2000" b="1" dirty="0">
              <a:latin typeface="210 청춘시대 R" panose="02020603020101020101" pitchFamily="18" charset="-127"/>
              <a:ea typeface="210 청춘시대 R" panose="02020603020101020101" pitchFamily="18" charset="-127"/>
              <a:cs typeface="Times New Roman" panose="02020603050405020304" pitchFamily="18" charset="0"/>
            </a:endParaRPr>
          </a:p>
          <a:p>
            <a:pPr marL="400050" indent="-400050">
              <a:lnSpc>
                <a:spcPct val="200000"/>
              </a:lnSpc>
              <a:buFont typeface="+mj-lt"/>
              <a:buAutoNum type="romanUcPeriod"/>
            </a:pPr>
            <a:r>
              <a:rPr lang="ko-KR" altLang="en-US" sz="2000" b="1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결 론</a:t>
            </a:r>
            <a:r>
              <a:rPr lang="en-US" altLang="ko-KR" sz="2000" b="1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D76A74A-086B-FFFE-39F3-3170965685AC}"/>
              </a:ext>
            </a:extLst>
          </p:cNvPr>
          <p:cNvCxnSpPr/>
          <p:nvPr/>
        </p:nvCxnSpPr>
        <p:spPr>
          <a:xfrm>
            <a:off x="357771" y="913497"/>
            <a:ext cx="11520000" cy="0"/>
          </a:xfrm>
          <a:prstGeom prst="line">
            <a:avLst/>
          </a:prstGeom>
          <a:ln w="44450" cmpd="sng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A7170D74-DD7F-7C64-EBF0-CD2FE99AB4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7" t="11295" r="51652" b="56822"/>
          <a:stretch/>
        </p:blipFill>
        <p:spPr>
          <a:xfrm>
            <a:off x="5361168" y="6434167"/>
            <a:ext cx="1132311" cy="36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810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89DBDE-7857-C09A-C621-8D251378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800" y="6393247"/>
            <a:ext cx="2743200" cy="365125"/>
          </a:xfrm>
        </p:spPr>
        <p:txBody>
          <a:bodyPr/>
          <a:lstStyle/>
          <a:p>
            <a:fld id="{D3060201-1C40-4B39-813D-5CD9493BAEED}" type="slidenum">
              <a:rPr lang="en-US" smtClean="0"/>
              <a:t>3</a:t>
            </a:fld>
            <a:endParaRPr 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42FF751-3820-8E67-A8E9-8E6722B19A58}"/>
              </a:ext>
            </a:extLst>
          </p:cNvPr>
          <p:cNvCxnSpPr/>
          <p:nvPr/>
        </p:nvCxnSpPr>
        <p:spPr>
          <a:xfrm>
            <a:off x="336000" y="6356350"/>
            <a:ext cx="11520000" cy="0"/>
          </a:xfrm>
          <a:prstGeom prst="line">
            <a:avLst/>
          </a:prstGeom>
          <a:ln w="63500" cmpd="dbl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7AE42FD-771C-5070-9A3C-FC47B06C93B6}"/>
              </a:ext>
            </a:extLst>
          </p:cNvPr>
          <p:cNvSpPr txBox="1"/>
          <p:nvPr/>
        </p:nvSpPr>
        <p:spPr>
          <a:xfrm>
            <a:off x="314229" y="343546"/>
            <a:ext cx="82309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highlight>
                  <a:srgbClr val="00FFFF"/>
                </a:highlight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 </a:t>
            </a:r>
            <a:r>
              <a:rPr lang="en-US" altLang="ko-KR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Ⅰ. </a:t>
            </a:r>
            <a:r>
              <a:rPr lang="ko-KR" altLang="en-US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커리큘럼 학습이란</a:t>
            </a:r>
            <a:r>
              <a:rPr lang="en-US" altLang="ko-KR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?</a:t>
            </a:r>
            <a:endParaRPr lang="en-US" altLang="ko-KR" sz="2400" dirty="0">
              <a:latin typeface="210 청춘시대 R" panose="02020603020101020101" pitchFamily="18" charset="-127"/>
              <a:ea typeface="210 청춘시대 R" panose="02020603020101020101" pitchFamily="18" charset="-127"/>
              <a:cs typeface="맑은 고딕 Semilight" panose="020B0502040204020203" pitchFamily="50" charset="-127"/>
            </a:endParaRPr>
          </a:p>
          <a:p>
            <a:r>
              <a:rPr lang="en-US" altLang="ko-KR" sz="2400" dirty="0">
                <a:solidFill>
                  <a:srgbClr val="FF0000"/>
                </a:solidFill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</a:t>
            </a:r>
            <a:endParaRPr lang="ko-KR" altLang="en-US" sz="2400" dirty="0">
              <a:solidFill>
                <a:srgbClr val="FF0000"/>
              </a:solidFill>
              <a:latin typeface="210 청춘시대 R" panose="02020603020101020101" pitchFamily="18" charset="-127"/>
              <a:ea typeface="210 청춘시대 R" panose="02020603020101020101" pitchFamily="18" charset="-127"/>
              <a:cs typeface="Times New Roman" panose="02020603050405020304" pitchFamily="18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D76A74A-086B-FFFE-39F3-3170965685AC}"/>
              </a:ext>
            </a:extLst>
          </p:cNvPr>
          <p:cNvCxnSpPr/>
          <p:nvPr/>
        </p:nvCxnSpPr>
        <p:spPr>
          <a:xfrm>
            <a:off x="357771" y="913497"/>
            <a:ext cx="11520000" cy="0"/>
          </a:xfrm>
          <a:prstGeom prst="line">
            <a:avLst/>
          </a:prstGeom>
          <a:ln w="44450" cmpd="sng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911B3DD-B074-DF81-1931-A39AF9A9CA1E}"/>
              </a:ext>
            </a:extLst>
          </p:cNvPr>
          <p:cNvSpPr/>
          <p:nvPr/>
        </p:nvSpPr>
        <p:spPr>
          <a:xfrm>
            <a:off x="4882297" y="2680560"/>
            <a:ext cx="2015653" cy="70836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210 청춘시대 R" panose="02020603020101020101" pitchFamily="18" charset="-127"/>
                <a:ea typeface="210 청춘시대 R" panose="02020603020101020101" pitchFamily="18" charset="-127"/>
              </a:rPr>
              <a:t>인간의 학습 순서처럼 모델 훈련</a:t>
            </a:r>
            <a:endParaRPr lang="en-US" altLang="ko-KR" sz="1400" dirty="0">
              <a:solidFill>
                <a:schemeClr val="tx1"/>
              </a:solidFill>
              <a:latin typeface="210 청춘시대 R" panose="02020603020101020101" pitchFamily="18" charset="-127"/>
              <a:ea typeface="210 청춘시대 R" panose="0202060302010102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9E08B0-B613-1281-DF3B-7E6B4F287F3C}"/>
              </a:ext>
            </a:extLst>
          </p:cNvPr>
          <p:cNvSpPr txBox="1"/>
          <p:nvPr/>
        </p:nvSpPr>
        <p:spPr>
          <a:xfrm>
            <a:off x="5348242" y="5623377"/>
            <a:ext cx="57841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[fig1 </a:t>
            </a:r>
            <a:r>
              <a:rPr lang="ko-KR" altLang="en-US" sz="800" dirty="0"/>
              <a:t>출처</a:t>
            </a:r>
            <a:r>
              <a:rPr lang="en-US" altLang="ko-KR" sz="800" dirty="0"/>
              <a:t>] https://d14cvuwsb9oabg.cloudfront.net/c_fill,fl_lossy,w_960/v1475390407/ylgvnrjqwl1w5hzpjmxm.jpg</a:t>
            </a:r>
            <a:endParaRPr lang="ko-KR" altLang="en-US" sz="8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41EA809-40A7-77FC-B6B1-CBAE71B4F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49" y="2755436"/>
            <a:ext cx="3657601" cy="1799214"/>
          </a:xfrm>
          <a:prstGeom prst="rect">
            <a:avLst/>
          </a:prstGeom>
          <a:ln>
            <a:noFill/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725C720-F88C-6CA0-F9FE-1853770F8D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275" y="2764178"/>
            <a:ext cx="3643576" cy="1799214"/>
          </a:xfrm>
          <a:prstGeom prst="rect">
            <a:avLst/>
          </a:prstGeom>
          <a:ln>
            <a:noFill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C6C0508-1979-D3AF-839E-B399D8CE6DFB}"/>
              </a:ext>
            </a:extLst>
          </p:cNvPr>
          <p:cNvSpPr txBox="1"/>
          <p:nvPr/>
        </p:nvSpPr>
        <p:spPr>
          <a:xfrm>
            <a:off x="5348242" y="5844184"/>
            <a:ext cx="6529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[fig2 </a:t>
            </a:r>
            <a:r>
              <a:rPr lang="ko-KR" altLang="en-US" sz="800" dirty="0"/>
              <a:t>출처</a:t>
            </a:r>
            <a:r>
              <a:rPr lang="en-US" altLang="ko-KR" sz="800" dirty="0"/>
              <a:t>]:https://mblogthumb-phinf.pstatic.net/MjAxODAzMjNfMjYy/MDAxNTIxNzkxMTQ1OTgx.YktnvvR5KY9IZlpluEHz36HZCyU1zw0Mcs2tz65EMwog.q2kyKYiQrqVb3A4QXTJ-EVKkuTwwlcIVye01zP8z-TAg.JPEG.dpdlcldpf1/20180323_164537.jpg?type=w800</a:t>
            </a:r>
            <a:endParaRPr lang="ko-KR" altLang="en-US" sz="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CC9493-24DE-9425-0998-8BFF1FA1F54D}"/>
              </a:ext>
            </a:extLst>
          </p:cNvPr>
          <p:cNvSpPr txBox="1"/>
          <p:nvPr/>
        </p:nvSpPr>
        <p:spPr>
          <a:xfrm>
            <a:off x="1619300" y="4726200"/>
            <a:ext cx="219129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210 청춘시대 R" panose="02020603020101020101" pitchFamily="18" charset="-127"/>
                <a:ea typeface="210 청춘시대 R" panose="02020603020101020101" pitchFamily="18" charset="-127"/>
              </a:rPr>
              <a:t>fig1. </a:t>
            </a:r>
            <a:r>
              <a:rPr lang="ko-KR" altLang="en-US" sz="1100" dirty="0">
                <a:latin typeface="210 청춘시대 R" panose="02020603020101020101" pitchFamily="18" charset="-127"/>
                <a:ea typeface="210 청춘시대 R" panose="02020603020101020101" pitchFamily="18" charset="-127"/>
              </a:rPr>
              <a:t>어린 아이 학습 모습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FC2F0C-4058-48FD-CB96-0D141776BCD0}"/>
              </a:ext>
            </a:extLst>
          </p:cNvPr>
          <p:cNvSpPr txBox="1"/>
          <p:nvPr/>
        </p:nvSpPr>
        <p:spPr>
          <a:xfrm>
            <a:off x="8017151" y="4726200"/>
            <a:ext cx="219129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210 청춘시대 R" panose="02020603020101020101" pitchFamily="18" charset="-127"/>
                <a:ea typeface="210 청춘시대 R" panose="02020603020101020101" pitchFamily="18" charset="-127"/>
              </a:rPr>
              <a:t>fig2. </a:t>
            </a:r>
            <a:r>
              <a:rPr lang="ko-KR" altLang="en-US" sz="1100" dirty="0">
                <a:latin typeface="210 청춘시대 R" panose="02020603020101020101" pitchFamily="18" charset="-127"/>
                <a:ea typeface="210 청춘시대 R" panose="02020603020101020101" pitchFamily="18" charset="-127"/>
              </a:rPr>
              <a:t>어른  학습 모습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58B032A8-B32A-A9F5-A609-F3AB4BFFA20E}"/>
              </a:ext>
            </a:extLst>
          </p:cNvPr>
          <p:cNvSpPr/>
          <p:nvPr/>
        </p:nvSpPr>
        <p:spPr>
          <a:xfrm>
            <a:off x="4882298" y="3442118"/>
            <a:ext cx="2015652" cy="49493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210 청춘시대 R" panose="02020603020101020101" pitchFamily="18" charset="-127"/>
              <a:ea typeface="210 청춘시대 R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5DC1AF-F4D5-88D0-DA5F-1860E85C505A}"/>
              </a:ext>
            </a:extLst>
          </p:cNvPr>
          <p:cNvSpPr txBox="1"/>
          <p:nvPr/>
        </p:nvSpPr>
        <p:spPr>
          <a:xfrm>
            <a:off x="781947" y="1163489"/>
            <a:ext cx="10713367" cy="506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4">
                    <a:lumMod val="75000"/>
                  </a:schemeClr>
                </a:solidFill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아이디어</a:t>
            </a:r>
            <a:r>
              <a:rPr lang="en-US" altLang="ko-KR" sz="16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인간의 학습 순서처럼 모델 훈련</a:t>
            </a:r>
            <a:r>
              <a:rPr lang="en-US" altLang="ko-KR" sz="16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 </a:t>
            </a:r>
            <a:endParaRPr lang="ko-KR" altLang="en-US" sz="1600" dirty="0">
              <a:latin typeface="210 청춘시대 R" panose="02020603020101020101" pitchFamily="18" charset="-127"/>
              <a:ea typeface="210 청춘시대 R" panose="02020603020101020101" pitchFamily="18" charset="-127"/>
              <a:cs typeface="맑은 고딕 Semilight" panose="020B0502040204020203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3E12A95-8B86-2DA5-3B8A-3ECB97A74015}"/>
              </a:ext>
            </a:extLst>
          </p:cNvPr>
          <p:cNvSpPr/>
          <p:nvPr/>
        </p:nvSpPr>
        <p:spPr>
          <a:xfrm>
            <a:off x="4882297" y="3987549"/>
            <a:ext cx="2015653" cy="70836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210 청춘시대 R" panose="02020603020101020101" pitchFamily="18" charset="-127"/>
                <a:ea typeface="210 청춘시대 R" panose="02020603020101020101" pitchFamily="18" charset="-127"/>
              </a:rPr>
              <a:t>Easy-First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6BEA5A6-77D5-DAEE-4C8B-0262CFD8648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7" t="11295" r="51652" b="56822"/>
          <a:stretch/>
        </p:blipFill>
        <p:spPr>
          <a:xfrm>
            <a:off x="5323967" y="6455181"/>
            <a:ext cx="1132311" cy="36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033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89DBDE-7857-C09A-C621-8D251378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800" y="6393247"/>
            <a:ext cx="2743200" cy="365125"/>
          </a:xfrm>
        </p:spPr>
        <p:txBody>
          <a:bodyPr/>
          <a:lstStyle/>
          <a:p>
            <a:fld id="{D3060201-1C40-4B39-813D-5CD9493BAEED}" type="slidenum">
              <a:rPr lang="en-US" smtClean="0"/>
              <a:t>4</a:t>
            </a:fld>
            <a:endParaRPr 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42FF751-3820-8E67-A8E9-8E6722B19A58}"/>
              </a:ext>
            </a:extLst>
          </p:cNvPr>
          <p:cNvCxnSpPr/>
          <p:nvPr/>
        </p:nvCxnSpPr>
        <p:spPr>
          <a:xfrm>
            <a:off x="336000" y="6356350"/>
            <a:ext cx="11520000" cy="0"/>
          </a:xfrm>
          <a:prstGeom prst="line">
            <a:avLst/>
          </a:prstGeom>
          <a:ln w="63500" cmpd="dbl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7AE42FD-771C-5070-9A3C-FC47B06C93B6}"/>
              </a:ext>
            </a:extLst>
          </p:cNvPr>
          <p:cNvSpPr txBox="1"/>
          <p:nvPr/>
        </p:nvSpPr>
        <p:spPr>
          <a:xfrm>
            <a:off x="314229" y="343546"/>
            <a:ext cx="82309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highlight>
                  <a:srgbClr val="00FFFF"/>
                </a:highlight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 </a:t>
            </a:r>
            <a:r>
              <a:rPr lang="en-US" altLang="ko-KR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Ⅰ. </a:t>
            </a:r>
            <a:r>
              <a:rPr lang="ko-KR" altLang="en-US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커리큘럼 학습이란</a:t>
            </a:r>
            <a:r>
              <a:rPr lang="en-US" altLang="ko-KR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?</a:t>
            </a:r>
            <a:endParaRPr lang="en-US" altLang="ko-KR" sz="2400" dirty="0">
              <a:latin typeface="210 청춘시대 R" panose="02020603020101020101" pitchFamily="18" charset="-127"/>
              <a:ea typeface="210 청춘시대 R" panose="02020603020101020101" pitchFamily="18" charset="-127"/>
              <a:cs typeface="맑은 고딕 Semilight" panose="020B0502040204020203" pitchFamily="50" charset="-127"/>
            </a:endParaRPr>
          </a:p>
          <a:p>
            <a:r>
              <a:rPr lang="en-US" altLang="ko-KR" sz="2400" dirty="0">
                <a:solidFill>
                  <a:srgbClr val="FF0000"/>
                </a:solidFill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</a:t>
            </a:r>
            <a:endParaRPr lang="ko-KR" altLang="en-US" sz="2400" dirty="0">
              <a:solidFill>
                <a:srgbClr val="FF0000"/>
              </a:solidFill>
              <a:latin typeface="210 청춘시대 R" panose="02020603020101020101" pitchFamily="18" charset="-127"/>
              <a:ea typeface="210 청춘시대 R" panose="02020603020101020101" pitchFamily="18" charset="-127"/>
              <a:cs typeface="Times New Roman" panose="02020603050405020304" pitchFamily="18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D76A74A-086B-FFFE-39F3-3170965685AC}"/>
              </a:ext>
            </a:extLst>
          </p:cNvPr>
          <p:cNvCxnSpPr/>
          <p:nvPr/>
        </p:nvCxnSpPr>
        <p:spPr>
          <a:xfrm>
            <a:off x="357771" y="913497"/>
            <a:ext cx="11520000" cy="0"/>
          </a:xfrm>
          <a:prstGeom prst="line">
            <a:avLst/>
          </a:prstGeom>
          <a:ln w="44450" cmpd="sng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85DC1AF-F4D5-88D0-DA5F-1860E85C505A}"/>
              </a:ext>
            </a:extLst>
          </p:cNvPr>
          <p:cNvSpPr txBox="1"/>
          <p:nvPr/>
        </p:nvSpPr>
        <p:spPr>
          <a:xfrm>
            <a:off x="781947" y="1163489"/>
            <a:ext cx="10713367" cy="506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4">
                    <a:lumMod val="75000"/>
                  </a:schemeClr>
                </a:solidFill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아이디어</a:t>
            </a:r>
            <a:r>
              <a:rPr lang="en-US" altLang="ko-KR" sz="16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학습 샘플의 중요도를 다르게 설정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5D793F-2970-FAE1-F595-A8FEBB97A2B1}"/>
              </a:ext>
            </a:extLst>
          </p:cNvPr>
          <p:cNvSpPr txBox="1"/>
          <p:nvPr/>
        </p:nvSpPr>
        <p:spPr>
          <a:xfrm>
            <a:off x="5939162" y="6095305"/>
            <a:ext cx="61694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사진 출처 </a:t>
            </a:r>
            <a:r>
              <a:rPr lang="en-US" altLang="ko-KR" sz="800" dirty="0"/>
              <a:t>:https://encrypted-tbn0.gstatic.com/images?q=tbn:ANd9GcRrY6NHU0PqZeGE3IvJGH28RVtk3sH_7QkHw6C8sIlaEg&amp;s</a:t>
            </a:r>
            <a:endParaRPr lang="ko-KR" altLang="en-US" sz="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B3996B-84A1-4FFD-AC7C-1B2347D627C9}"/>
              </a:ext>
            </a:extLst>
          </p:cNvPr>
          <p:cNvSpPr txBox="1"/>
          <p:nvPr/>
        </p:nvSpPr>
        <p:spPr>
          <a:xfrm>
            <a:off x="1878954" y="1984262"/>
            <a:ext cx="7651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ko-KR" altLang="en-US" dirty="0"/>
              <a:t>쉬운 샘플에 높은 가중치 부여</a:t>
            </a:r>
            <a:endParaRPr lang="en-US" altLang="ko-KR" dirty="0"/>
          </a:p>
          <a:p>
            <a:r>
              <a:rPr lang="ko-KR" altLang="en-US" dirty="0"/>
              <a:t>    샘플 난도 </a:t>
            </a:r>
            <a:r>
              <a:rPr lang="en-US" altLang="ko-KR" dirty="0"/>
              <a:t>(difficulty): </a:t>
            </a:r>
            <a:r>
              <a:rPr lang="ko-KR" altLang="en-US" dirty="0"/>
              <a:t>손실 함수 값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C1FFA1-D41A-4C4B-892C-B2C2FDCDCC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7" t="11295" r="51652" b="56822"/>
          <a:stretch/>
        </p:blipFill>
        <p:spPr>
          <a:xfrm>
            <a:off x="5373005" y="6483456"/>
            <a:ext cx="1132311" cy="36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309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89DBDE-7857-C09A-C621-8D251378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800" y="6393247"/>
            <a:ext cx="2743200" cy="365125"/>
          </a:xfrm>
        </p:spPr>
        <p:txBody>
          <a:bodyPr/>
          <a:lstStyle/>
          <a:p>
            <a:fld id="{D3060201-1C40-4B39-813D-5CD9493BAEED}" type="slidenum">
              <a:rPr lang="en-US" smtClean="0"/>
              <a:t>5</a:t>
            </a:fld>
            <a:endParaRPr 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42FF751-3820-8E67-A8E9-8E6722B19A58}"/>
              </a:ext>
            </a:extLst>
          </p:cNvPr>
          <p:cNvCxnSpPr/>
          <p:nvPr/>
        </p:nvCxnSpPr>
        <p:spPr>
          <a:xfrm>
            <a:off x="336000" y="6356350"/>
            <a:ext cx="11520000" cy="0"/>
          </a:xfrm>
          <a:prstGeom prst="line">
            <a:avLst/>
          </a:prstGeom>
          <a:ln w="63500" cmpd="dbl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D76A74A-086B-FFFE-39F3-3170965685AC}"/>
              </a:ext>
            </a:extLst>
          </p:cNvPr>
          <p:cNvCxnSpPr/>
          <p:nvPr/>
        </p:nvCxnSpPr>
        <p:spPr>
          <a:xfrm>
            <a:off x="357771" y="913497"/>
            <a:ext cx="11520000" cy="0"/>
          </a:xfrm>
          <a:prstGeom prst="line">
            <a:avLst/>
          </a:prstGeom>
          <a:ln w="44450" cmpd="sng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661A3F8-A3DD-E552-BFB4-C36D137645AC}"/>
              </a:ext>
            </a:extLst>
          </p:cNvPr>
          <p:cNvSpPr txBox="1"/>
          <p:nvPr/>
        </p:nvSpPr>
        <p:spPr>
          <a:xfrm>
            <a:off x="314229" y="343546"/>
            <a:ext cx="8230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highlight>
                  <a:srgbClr val="00FFFF"/>
                </a:highlight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 </a:t>
            </a:r>
            <a:r>
              <a:rPr lang="en-US" altLang="ko-KR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Ⅰ. </a:t>
            </a:r>
            <a:r>
              <a:rPr lang="ko-KR" altLang="en-US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커리큘럼 학습이란</a:t>
            </a:r>
            <a:r>
              <a:rPr lang="en-US" altLang="ko-KR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?</a:t>
            </a:r>
            <a:endParaRPr lang="ko-KR" altLang="en-US" sz="2400" dirty="0">
              <a:solidFill>
                <a:srgbClr val="FF0000"/>
              </a:solidFill>
              <a:latin typeface="210 청춘시대 R" panose="02020603020101020101" pitchFamily="18" charset="-127"/>
              <a:ea typeface="210 청춘시대 R" panose="0202060302010102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A9179BA-D5B0-23C6-5671-47D269926F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7" t="11295" r="51652" b="56822"/>
          <a:stretch/>
        </p:blipFill>
        <p:spPr>
          <a:xfrm>
            <a:off x="5118315" y="6464637"/>
            <a:ext cx="1132311" cy="36819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722664F-DDA7-9EE3-A6D1-3952EF4F48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044" y="1311404"/>
            <a:ext cx="5685634" cy="463309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2831AA7-1140-817D-AD90-F0F7BADC23F4}"/>
              </a:ext>
            </a:extLst>
          </p:cNvPr>
          <p:cNvSpPr txBox="1"/>
          <p:nvPr/>
        </p:nvSpPr>
        <p:spPr>
          <a:xfrm>
            <a:off x="681188" y="1192712"/>
            <a:ext cx="3642237" cy="558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4">
                    <a:lumMod val="75000"/>
                  </a:schemeClr>
                </a:solidFill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Baseline </a:t>
            </a:r>
            <a:r>
              <a:rPr lang="en-US" altLang="ko-KR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: </a:t>
            </a:r>
            <a:r>
              <a:rPr lang="en-US" altLang="ko-KR" dirty="0" err="1"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SuperLoss</a:t>
            </a:r>
            <a:endParaRPr lang="ko-KR" altLang="en-US" dirty="0">
              <a:latin typeface="210 청춘시대 R" panose="02020603020101020101" pitchFamily="18" charset="-127"/>
              <a:ea typeface="210 청춘시대 R" panose="02020603020101020101" pitchFamily="18" charset="-127"/>
              <a:cs typeface="맑은 고딕 Semilight" panose="020B0502040204020203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0546AEB-CBC8-3416-75D6-4F7BA23258FE}"/>
                  </a:ext>
                </a:extLst>
              </p:cNvPr>
              <p:cNvSpPr txBox="1"/>
              <p:nvPr/>
            </p:nvSpPr>
            <p:spPr>
              <a:xfrm>
                <a:off x="124952" y="2614720"/>
                <a:ext cx="4754707" cy="461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sz="2400">
                              <a:latin typeface="Cambria Math" panose="02040503050406030204" pitchFamily="18" charset="0"/>
                            </a:rPr>
                            <m:t>SL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ko-KR" altLang="en-US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ko-KR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ko-KR" alt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ko-KR" altLang="en-US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sSub>
                        <m:sSubPr>
                          <m:ctrlPr>
                            <a:rPr lang="ko-KR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2400" i="1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ko-KR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ko-KR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ko-KR" altLang="en-US" sz="2400" i="0" smtClean="0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ko-KR" altLang="en-US" sz="2400" i="0">
                                      <a:latin typeface="Cambria Math" panose="02040503050406030204" pitchFamily="18" charset="0"/>
                                    </a:rPr>
                                    <m:t>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ko-KR" altLang="en-US" sz="2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4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ko-KR" alt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ko-KR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0546AEB-CBC8-3416-75D6-4F7BA2325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52" y="2614720"/>
                <a:ext cx="4754707" cy="461664"/>
              </a:xfrm>
              <a:prstGeom prst="rect">
                <a:avLst/>
              </a:prstGeom>
              <a:blipFill>
                <a:blip r:embed="rId4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5A46A8E-80F8-323F-6D92-F61C0A74BC16}"/>
                  </a:ext>
                </a:extLst>
              </p:cNvPr>
              <p:cNvSpPr txBox="1"/>
              <p:nvPr/>
            </p:nvSpPr>
            <p:spPr>
              <a:xfrm>
                <a:off x="357771" y="3227835"/>
                <a:ext cx="5493794" cy="9280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ko-KR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ko-KR" altLang="en-US" sz="2400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ko-KR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ko-KR" alt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ko-KR" altLang="en-US" sz="240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ko-KR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ko-KR" altLang="en-US" sz="2400" i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ko-KR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ko-KR" alt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ko-KR" altLang="en-US" sz="2400" i="0">
                                  <a:latin typeface="Cambria Math" panose="02040503050406030204" pitchFamily="18" charset="0"/>
                                </a:rPr>
                                <m:t>SL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ko-KR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ko-KR" altLang="en-US" sz="2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4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ko-KR" alt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func>
                      <m:r>
                        <a:rPr lang="ko-KR" altLang="en-US" sz="24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ko-KR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ko-KR" altLang="en-US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  <m:d>
                            <m:dPr>
                              <m:ctrlPr>
                                <a:rPr lang="ko-KR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ko-KR" altLang="en-US" sz="2400" i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ko-KR" altLang="en-US" sz="2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ko-KR" altLang="en-US" sz="2400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ko-KR" altLang="en-US" sz="24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ko-KR" altLang="en-US" sz="24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ko-KR" altLang="en-US" sz="24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den>
                                      </m:f>
                                      <m:r>
                                        <a:rPr lang="ko-KR" altLang="en-US" sz="24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f>
                                        <m:fPr>
                                          <m:ctrlPr>
                                            <a:rPr lang="ko-KR" altLang="en-US" sz="24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ko-KR" altLang="en-US" sz="24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ko-KR" altLang="en-US" sz="24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sup>
                      </m:sSup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5A46A8E-80F8-323F-6D92-F61C0A74B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71" y="3227835"/>
                <a:ext cx="5493794" cy="9280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713B6E4-CB8E-9B7F-CB03-EC857639ECB4}"/>
                  </a:ext>
                </a:extLst>
              </p:cNvPr>
              <p:cNvSpPr txBox="1"/>
              <p:nvPr/>
            </p:nvSpPr>
            <p:spPr>
              <a:xfrm>
                <a:off x="4023089" y="4258603"/>
                <a:ext cx="1713140" cy="618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713B6E4-CB8E-9B7F-CB03-EC857639E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089" y="4258603"/>
                <a:ext cx="1713140" cy="6183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8F5C2EF-1739-8BBF-2264-7BFB79BA0ED9}"/>
              </a:ext>
            </a:extLst>
          </p:cNvPr>
          <p:cNvCxnSpPr>
            <a:cxnSpLocks/>
          </p:cNvCxnSpPr>
          <p:nvPr/>
        </p:nvCxnSpPr>
        <p:spPr>
          <a:xfrm>
            <a:off x="5953957" y="1026155"/>
            <a:ext cx="0" cy="508831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B02AAE8-C7F0-0E8B-6A9E-B8DCF8203808}"/>
              </a:ext>
            </a:extLst>
          </p:cNvPr>
          <p:cNvSpPr/>
          <p:nvPr/>
        </p:nvSpPr>
        <p:spPr>
          <a:xfrm>
            <a:off x="268322" y="1864822"/>
            <a:ext cx="1750099" cy="51014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Easy-First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034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89DBDE-7857-C09A-C621-8D251378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800" y="6393247"/>
            <a:ext cx="2743200" cy="365125"/>
          </a:xfrm>
        </p:spPr>
        <p:txBody>
          <a:bodyPr/>
          <a:lstStyle/>
          <a:p>
            <a:fld id="{D3060201-1C40-4B39-813D-5CD9493BAEED}" type="slidenum">
              <a:rPr lang="en-US" smtClean="0"/>
              <a:t>6</a:t>
            </a:fld>
            <a:endParaRPr 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42FF751-3820-8E67-A8E9-8E6722B19A58}"/>
              </a:ext>
            </a:extLst>
          </p:cNvPr>
          <p:cNvCxnSpPr/>
          <p:nvPr/>
        </p:nvCxnSpPr>
        <p:spPr>
          <a:xfrm>
            <a:off x="336000" y="6356350"/>
            <a:ext cx="11520000" cy="0"/>
          </a:xfrm>
          <a:prstGeom prst="line">
            <a:avLst/>
          </a:prstGeom>
          <a:ln w="63500" cmpd="dbl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D76A74A-086B-FFFE-39F3-3170965685AC}"/>
              </a:ext>
            </a:extLst>
          </p:cNvPr>
          <p:cNvCxnSpPr/>
          <p:nvPr/>
        </p:nvCxnSpPr>
        <p:spPr>
          <a:xfrm>
            <a:off x="357771" y="913497"/>
            <a:ext cx="11520000" cy="0"/>
          </a:xfrm>
          <a:prstGeom prst="line">
            <a:avLst/>
          </a:prstGeom>
          <a:ln w="44450" cmpd="sng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661A3F8-A3DD-E552-BFB4-C36D137645AC}"/>
              </a:ext>
            </a:extLst>
          </p:cNvPr>
          <p:cNvSpPr txBox="1"/>
          <p:nvPr/>
        </p:nvSpPr>
        <p:spPr>
          <a:xfrm>
            <a:off x="314229" y="343546"/>
            <a:ext cx="8230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highlight>
                  <a:srgbClr val="00FFFF"/>
                </a:highlight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 </a:t>
            </a:r>
            <a:r>
              <a:rPr lang="en-US" altLang="ko-KR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Ⅰ. </a:t>
            </a:r>
            <a:r>
              <a:rPr lang="ko-KR" altLang="en-US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커리큘럼 학습이란</a:t>
            </a:r>
            <a:r>
              <a:rPr lang="en-US" altLang="ko-KR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?</a:t>
            </a:r>
            <a:endParaRPr lang="ko-KR" altLang="en-US" sz="2400" dirty="0">
              <a:solidFill>
                <a:srgbClr val="FF0000"/>
              </a:solidFill>
              <a:latin typeface="210 청춘시대 R" panose="02020603020101020101" pitchFamily="18" charset="-127"/>
              <a:ea typeface="210 청춘시대 R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FD28A1-7C65-4685-9A10-EF230C0F7694}"/>
              </a:ext>
            </a:extLst>
          </p:cNvPr>
          <p:cNvSpPr txBox="1"/>
          <p:nvPr/>
        </p:nvSpPr>
        <p:spPr>
          <a:xfrm>
            <a:off x="7369150" y="5972194"/>
            <a:ext cx="47224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hlinkClick r:id="rId2"/>
              </a:rPr>
              <a:t>Which Samples Should Be Learned First: Easy or Hard? | IEEE Journals &amp; Magazine | IEEE Xplore</a:t>
            </a:r>
            <a:endParaRPr lang="en-US" altLang="ko-KR" sz="800" dirty="0"/>
          </a:p>
          <a:p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F28C975-57A9-6B6C-06BC-C7241E9DCF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7" t="11295" r="51652" b="56822"/>
          <a:stretch/>
        </p:blipFill>
        <p:spPr>
          <a:xfrm>
            <a:off x="5238044" y="6464637"/>
            <a:ext cx="1132311" cy="3681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96706B-60EF-88C7-93E2-43679B31CD38}"/>
              </a:ext>
            </a:extLst>
          </p:cNvPr>
          <p:cNvSpPr txBox="1"/>
          <p:nvPr/>
        </p:nvSpPr>
        <p:spPr>
          <a:xfrm>
            <a:off x="787466" y="1140376"/>
            <a:ext cx="5409147" cy="332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4">
                    <a:lumMod val="75000"/>
                  </a:schemeClr>
                </a:solidFill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기존의 </a:t>
            </a:r>
            <a:r>
              <a:rPr lang="en-US" altLang="ko-KR" dirty="0" err="1">
                <a:solidFill>
                  <a:schemeClr val="accent4">
                    <a:lumMod val="75000"/>
                  </a:schemeClr>
                </a:solidFill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SuperLoss</a:t>
            </a:r>
            <a:r>
              <a:rPr lang="ko-KR" altLang="en-US" dirty="0">
                <a:solidFill>
                  <a:schemeClr val="accent4">
                    <a:lumMod val="75000"/>
                  </a:schemeClr>
                </a:solidFill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의 한계점</a:t>
            </a:r>
            <a:r>
              <a:rPr lang="en-US" altLang="ko-KR" dirty="0">
                <a:solidFill>
                  <a:schemeClr val="accent4">
                    <a:lumMod val="75000"/>
                  </a:schemeClr>
                </a:solidFill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: </a:t>
            </a:r>
            <a:r>
              <a:rPr lang="en-US" altLang="ko-KR" b="1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Easy-First only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b="1" dirty="0">
              <a:latin typeface="210 청춘시대 R" panose="02020603020101020101" pitchFamily="18" charset="-127"/>
              <a:ea typeface="210 청춘시대 R" panose="02020603020101020101" pitchFamily="18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다른 우선순위 정책들</a:t>
            </a:r>
            <a:endParaRPr lang="en-US" altLang="ko-KR" b="1" dirty="0">
              <a:latin typeface="210 청춘시대 R" panose="02020603020101020101" pitchFamily="18" charset="-127"/>
              <a:ea typeface="210 청춘시대 R" panose="02020603020101020101" pitchFamily="18" charset="-127"/>
              <a:cs typeface="맑은 고딕 Semilight" panose="020B0502040204020203" pitchFamily="50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Hard-First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Medium-First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29035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89DBDE-7857-C09A-C621-8D251378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800" y="6393247"/>
            <a:ext cx="2743200" cy="365125"/>
          </a:xfrm>
        </p:spPr>
        <p:txBody>
          <a:bodyPr/>
          <a:lstStyle/>
          <a:p>
            <a:fld id="{D3060201-1C40-4B39-813D-5CD9493BAEED}" type="slidenum">
              <a:rPr lang="en-US" smtClean="0"/>
              <a:t>7</a:t>
            </a:fld>
            <a:endParaRPr 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42FF751-3820-8E67-A8E9-8E6722B19A58}"/>
              </a:ext>
            </a:extLst>
          </p:cNvPr>
          <p:cNvCxnSpPr/>
          <p:nvPr/>
        </p:nvCxnSpPr>
        <p:spPr>
          <a:xfrm>
            <a:off x="336000" y="6356350"/>
            <a:ext cx="11520000" cy="0"/>
          </a:xfrm>
          <a:prstGeom prst="line">
            <a:avLst/>
          </a:prstGeom>
          <a:ln w="63500" cmpd="dbl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7AE42FD-771C-5070-9A3C-FC47B06C93B6}"/>
              </a:ext>
            </a:extLst>
          </p:cNvPr>
          <p:cNvSpPr txBox="1"/>
          <p:nvPr/>
        </p:nvSpPr>
        <p:spPr>
          <a:xfrm>
            <a:off x="336000" y="339830"/>
            <a:ext cx="2736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highlight>
                  <a:srgbClr val="00FFFF"/>
                </a:highlight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  </a:t>
            </a:r>
            <a:r>
              <a:rPr lang="en-US" altLang="ko-KR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Ⅱ. </a:t>
            </a:r>
            <a:r>
              <a:rPr lang="ko-KR" altLang="en-US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제안한 방법</a:t>
            </a:r>
            <a:endParaRPr lang="en-US" altLang="ko-KR" sz="2400" dirty="0">
              <a:latin typeface="210 청춘시대 R" panose="02020603020101020101" pitchFamily="18" charset="-127"/>
              <a:ea typeface="210 청춘시대 R" panose="02020603020101020101" pitchFamily="18" charset="-127"/>
              <a:cs typeface="Times New Roman" panose="02020603050405020304" pitchFamily="18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D76A74A-086B-FFFE-39F3-3170965685AC}"/>
              </a:ext>
            </a:extLst>
          </p:cNvPr>
          <p:cNvCxnSpPr/>
          <p:nvPr/>
        </p:nvCxnSpPr>
        <p:spPr>
          <a:xfrm>
            <a:off x="357771" y="913497"/>
            <a:ext cx="11520000" cy="0"/>
          </a:xfrm>
          <a:prstGeom prst="line">
            <a:avLst/>
          </a:prstGeom>
          <a:ln w="44450" cmpd="sng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4C371F8-8ED2-D32B-5A65-8D565E4DE762}"/>
              </a:ext>
            </a:extLst>
          </p:cNvPr>
          <p:cNvSpPr/>
          <p:nvPr/>
        </p:nvSpPr>
        <p:spPr>
          <a:xfrm>
            <a:off x="401462" y="1495220"/>
            <a:ext cx="1924044" cy="48117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1. Hard-First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01266DA-E964-33F2-2C87-2EAB25DD62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7" t="11295" r="51652" b="56822"/>
          <a:stretch/>
        </p:blipFill>
        <p:spPr>
          <a:xfrm>
            <a:off x="5149096" y="6489803"/>
            <a:ext cx="1132311" cy="3681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1F41DD2-26B3-F0F0-F177-C9A65230F8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044" y="1174624"/>
            <a:ext cx="5527572" cy="4734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3192583-5B49-2C02-8EC2-7813AECBBE94}"/>
                  </a:ext>
                </a:extLst>
              </p:cNvPr>
              <p:cNvSpPr txBox="1"/>
              <p:nvPr/>
            </p:nvSpPr>
            <p:spPr>
              <a:xfrm>
                <a:off x="426384" y="2567583"/>
                <a:ext cx="42519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>
                              <a:latin typeface="Cambria Math" panose="02040503050406030204" pitchFamily="18" charset="0"/>
                            </a:rPr>
                            <m:t>HFSL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ko-KR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sSub>
                        <m:sSubPr>
                          <m:ctrlPr>
                            <a:rPr lang="ko-KR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ko-KR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ko-KR" altLang="en-US" i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ko-KR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3192583-5B49-2C02-8EC2-7813AECBB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384" y="2567583"/>
                <a:ext cx="4251948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58CEB7F-61E8-60D8-BBA2-0E850C524C45}"/>
                  </a:ext>
                </a:extLst>
              </p:cNvPr>
              <p:cNvSpPr txBox="1"/>
              <p:nvPr/>
            </p:nvSpPr>
            <p:spPr>
              <a:xfrm>
                <a:off x="335999" y="3171326"/>
                <a:ext cx="5333863" cy="7193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ko-KR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ko-KR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ko-KR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HFSL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ko-KR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ko-KR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func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ko-KR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ko-KR" altLang="en-US" i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ko-KR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ko-KR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ko-KR" altLang="en-U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ko-KR" altLang="en-US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den>
                                      </m:f>
                                      <m:r>
                                        <a:rPr lang="ko-KR" altLang="en-US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f>
                                        <m:fPr>
                                          <m:ctrlPr>
                                            <a:rPr lang="ko-KR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ko-KR" altLang="en-US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ko-KR" altLang="en-US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58CEB7F-61E8-60D8-BBA2-0E850C524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99" y="3171326"/>
                <a:ext cx="5333863" cy="7193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854BE91-5CCF-7EB4-25EE-F027E76F43BA}"/>
              </a:ext>
            </a:extLst>
          </p:cNvPr>
          <p:cNvCxnSpPr>
            <a:cxnSpLocks/>
          </p:cNvCxnSpPr>
          <p:nvPr/>
        </p:nvCxnSpPr>
        <p:spPr>
          <a:xfrm>
            <a:off x="5953957" y="1026155"/>
            <a:ext cx="0" cy="508831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6FAEB0-7F0F-638E-CCFE-073478951FE0}"/>
                  </a:ext>
                </a:extLst>
              </p:cNvPr>
              <p:cNvSpPr txBox="1"/>
              <p:nvPr/>
            </p:nvSpPr>
            <p:spPr>
              <a:xfrm>
                <a:off x="3603005" y="4017822"/>
                <a:ext cx="1713140" cy="5598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60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ko-KR" altLang="en-US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ko-KR" altLang="en-US" sz="16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6FAEB0-7F0F-638E-CCFE-073478951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005" y="4017822"/>
                <a:ext cx="1713140" cy="5598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3636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89DBDE-7857-C09A-C621-8D251378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800" y="6393247"/>
            <a:ext cx="2743200" cy="365125"/>
          </a:xfrm>
        </p:spPr>
        <p:txBody>
          <a:bodyPr/>
          <a:lstStyle/>
          <a:p>
            <a:fld id="{D3060201-1C40-4B39-813D-5CD9493BAEED}" type="slidenum">
              <a:rPr lang="en-US" smtClean="0"/>
              <a:t>8</a:t>
            </a:fld>
            <a:endParaRPr 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42FF751-3820-8E67-A8E9-8E6722B19A58}"/>
              </a:ext>
            </a:extLst>
          </p:cNvPr>
          <p:cNvCxnSpPr/>
          <p:nvPr/>
        </p:nvCxnSpPr>
        <p:spPr>
          <a:xfrm>
            <a:off x="336000" y="6356350"/>
            <a:ext cx="11520000" cy="0"/>
          </a:xfrm>
          <a:prstGeom prst="line">
            <a:avLst/>
          </a:prstGeom>
          <a:ln w="63500" cmpd="dbl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7AE42FD-771C-5070-9A3C-FC47B06C93B6}"/>
              </a:ext>
            </a:extLst>
          </p:cNvPr>
          <p:cNvSpPr txBox="1"/>
          <p:nvPr/>
        </p:nvSpPr>
        <p:spPr>
          <a:xfrm>
            <a:off x="336000" y="339830"/>
            <a:ext cx="2736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highlight>
                  <a:srgbClr val="00FFFF"/>
                </a:highlight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  </a:t>
            </a:r>
            <a:r>
              <a:rPr lang="en-US" altLang="ko-KR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Ⅱ. </a:t>
            </a:r>
            <a:r>
              <a:rPr lang="ko-KR" altLang="en-US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제안한 방법</a:t>
            </a:r>
            <a:endParaRPr lang="en-US" altLang="ko-KR" sz="2400" dirty="0">
              <a:latin typeface="210 청춘시대 R" panose="02020603020101020101" pitchFamily="18" charset="-127"/>
              <a:ea typeface="210 청춘시대 R" panose="02020603020101020101" pitchFamily="18" charset="-127"/>
              <a:cs typeface="Times New Roman" panose="02020603050405020304" pitchFamily="18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D76A74A-086B-FFFE-39F3-3170965685AC}"/>
              </a:ext>
            </a:extLst>
          </p:cNvPr>
          <p:cNvCxnSpPr/>
          <p:nvPr/>
        </p:nvCxnSpPr>
        <p:spPr>
          <a:xfrm>
            <a:off x="357771" y="913497"/>
            <a:ext cx="11520000" cy="0"/>
          </a:xfrm>
          <a:prstGeom prst="line">
            <a:avLst/>
          </a:prstGeom>
          <a:ln w="44450" cmpd="sng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8535D4D-BC33-E2D8-035C-DBC8F30869CA}"/>
              </a:ext>
            </a:extLst>
          </p:cNvPr>
          <p:cNvSpPr/>
          <p:nvPr/>
        </p:nvSpPr>
        <p:spPr>
          <a:xfrm>
            <a:off x="357771" y="1436486"/>
            <a:ext cx="2024184" cy="48117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2. Medium-First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01266DA-E964-33F2-2C87-2EAB25DD62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7" t="11295" r="51652" b="56822"/>
          <a:stretch/>
        </p:blipFill>
        <p:spPr>
          <a:xfrm>
            <a:off x="5149096" y="6489803"/>
            <a:ext cx="1132311" cy="36819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90BCCA5-F1EC-2CF7-0177-E923C5299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419" y="1090768"/>
            <a:ext cx="5321352" cy="50547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F98ED99-8A0C-0BA7-6580-2AD7FE7CEE4E}"/>
                  </a:ext>
                </a:extLst>
              </p:cNvPr>
              <p:cNvSpPr txBox="1"/>
              <p:nvPr/>
            </p:nvSpPr>
            <p:spPr>
              <a:xfrm>
                <a:off x="331147" y="2224198"/>
                <a:ext cx="5950259" cy="71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>
                              <a:latin typeface="Cambria Math" panose="02040503050406030204" pitchFamily="18" charset="0"/>
                            </a:rPr>
                            <m:t>MFSL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ko-KR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sSub>
                        <m:sSubPr>
                          <m:ctrlPr>
                            <a:rPr lang="ko-KR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i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i="0">
                              <a:latin typeface="Cambria Math" panose="02040503050406030204" pitchFamily="18" charset="0"/>
                            </a:rPr>
                            <m:t>sign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func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begChr m:val="{"/>
                          <m:endChr m:val="}"/>
                          <m:ctrlPr>
                            <a:rPr lang="ko-KR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ko-KR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ko-KR" altLang="en-US" i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ko-KR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ko-KR" alt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num>
                            <m:den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F98ED99-8A0C-0BA7-6580-2AD7FE7C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47" y="2224198"/>
                <a:ext cx="5950259" cy="7101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26C8FA1-E1AD-54C7-421F-048985B4A83F}"/>
                  </a:ext>
                </a:extLst>
              </p:cNvPr>
              <p:cNvSpPr txBox="1"/>
              <p:nvPr/>
            </p:nvSpPr>
            <p:spPr>
              <a:xfrm>
                <a:off x="451460" y="3123551"/>
                <a:ext cx="5709634" cy="1746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ko-KR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ko-KR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ko-KR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MFSL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ko-KR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ko-KR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func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ko-KR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ko-KR" altLang="en-US" i="0">
                                      <a:latin typeface="Cambria Math" panose="02040503050406030204" pitchFamily="18" charset="0"/>
                                    </a:rPr>
                                    <m:t>sign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ko-KR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ko-KR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  <m:sub>
                                          <m:r>
                                            <a:rPr lang="ko-KR" alt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ko-KR" alt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e>
                              </m:func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ko-KR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ko-KR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num>
                                    <m:den>
                                      <m:r>
                                        <a:rPr lang="ko-KR" altLang="en-U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ko-KR" alt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ko-KR" altLang="en-US" i="0">
                                          <a:latin typeface="Cambria Math" panose="02040503050406030204" pitchFamily="18" charset="0"/>
                                        </a:rPr>
                                        <m:t>sign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ko-KR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ko-KR" altLang="en-US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ko-KR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e>
                                            <m:sub>
                                              <m:r>
                                                <a:rPr lang="ko-KR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ko-KR" altLang="en-US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ko-KR" altLang="en-US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</m:e>
                                  </m:func>
                                  <m:f>
                                    <m:fPr>
                                      <m:ctrlPr>
                                        <a:rPr lang="ko-KR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ko-KR" alt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sup>
                      </m:sSup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ko-KR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ko-KR" altLang="en-US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ko-KR" altLang="en-US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  <m:d>
                                          <m:dPr>
                                            <m:ctrlPr>
                                              <a:rPr lang="ko-KR" altLang="en-US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ko-KR" altLang="en-US" i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f>
                                              <m:fPr>
                                                <m:ctrlPr>
                                                  <a:rPr lang="ko-KR" altLang="en-US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ko-KR" alt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𝛽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ko-KR" altLang="en-US" i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den>
                                            </m:f>
                                            <m:r>
                                              <a:rPr lang="ko-KR" altLang="en-US" i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f>
                                              <m:fPr>
                                                <m:ctrlPr>
                                                  <a:rPr lang="ko-KR" altLang="en-US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ko-KR" altLang="en-US" i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ko-KR" alt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𝑒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sup>
                                    </m:sSup>
                                  </m:e>
                                  <m:e>
                                    <m:d>
                                      <m:dPr>
                                        <m:ctrlPr>
                                          <a:rPr lang="ko-KR" altLang="en-US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ko-KR" altLang="en-US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ko-KR" altLang="en-US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ko-KR" altLang="en-US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  <m:r>
                                          <a:rPr lang="ko-KR" altLang="en-US" i="0">
                                            <a:latin typeface="Cambria Math" panose="02040503050406030204" pitchFamily="18" charset="0"/>
                                          </a:rPr>
                                          <m:t>&lt;0</m:t>
                                        </m:r>
                                      </m:e>
                                    </m:d>
                                  </m:e>
                                </m:mr>
                              </m:m>
                            </m:e>
                            <m:e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ko-KR" altLang="en-US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ko-KR" altLang="en-US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  <m:d>
                                          <m:dPr>
                                            <m:ctrlPr>
                                              <a:rPr lang="ko-KR" altLang="en-US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ko-KR" altLang="en-US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ko-KR" alt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𝛽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ko-KR" altLang="en-US" i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den>
                                            </m:f>
                                            <m:r>
                                              <a:rPr lang="ko-KR" altLang="en-US" i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f>
                                              <m:fPr>
                                                <m:ctrlPr>
                                                  <a:rPr lang="ko-KR" altLang="en-US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ko-KR" altLang="en-US" i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ko-KR" alt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𝑒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sup>
                                    </m:sSup>
                                  </m:e>
                                  <m:e>
                                    <m:r>
                                      <a:rPr lang="ko-KR" altLang="en-US" i="0">
                                        <a:latin typeface="Cambria Math" panose="02040503050406030204" pitchFamily="18" charset="0"/>
                                      </a:rPr>
                                      <m:t>     </m:t>
                                    </m:r>
                                    <m:d>
                                      <m:dPr>
                                        <m:ctrlPr>
                                          <a:rPr lang="ko-KR" altLang="en-US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ko-KR" altLang="en-US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ko-KR" altLang="en-US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ko-KR" altLang="en-US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  <m:r>
                                          <a:rPr lang="ko-KR" altLang="en-US" i="0">
                                            <a:latin typeface="Cambria Math" panose="02040503050406030204" pitchFamily="18" charset="0"/>
                                          </a:rPr>
                                          <m:t>≥0</m:t>
                                        </m:r>
                                      </m:e>
                                    </m:d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26C8FA1-E1AD-54C7-421F-048985B4A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60" y="3123551"/>
                <a:ext cx="5709634" cy="17465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0B82AC1-2092-3409-EF3E-E470EF367EF8}"/>
                  </a:ext>
                </a:extLst>
              </p:cNvPr>
              <p:cNvSpPr txBox="1"/>
              <p:nvPr/>
            </p:nvSpPr>
            <p:spPr>
              <a:xfrm>
                <a:off x="451460" y="5135057"/>
                <a:ext cx="3578645" cy="572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ko-KR" alt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sz="1400">
                              <a:latin typeface="Cambria Math" panose="02040503050406030204" pitchFamily="18" charset="0"/>
                            </a:rPr>
                            <m:t>sign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ko-KR" altLang="en-US" sz="1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func>
                      <m:r>
                        <a:rPr lang="ko-KR" altLang="en-US" sz="1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ko-KR" alt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ko-KR" alt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ko-KR" altLang="en-US" sz="1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ko-KR" altLang="en-US" sz="1400" i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  <m:e>
                                    <m:d>
                                      <m:dPr>
                                        <m:ctrlPr>
                                          <a:rPr lang="ko-KR" altLang="en-US" sz="1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ko-KR" altLang="en-US" sz="14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ko-KR" altLang="en-US" sz="14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4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ko-KR" altLang="en-US" sz="1400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ko-KR" altLang="en-US" sz="1400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  <m:r>
                                          <a:rPr lang="ko-KR" altLang="en-US" sz="1400" i="0">
                                            <a:latin typeface="Cambria Math" panose="02040503050406030204" pitchFamily="18" charset="0"/>
                                          </a:rPr>
                                          <m:t>&lt;0</m:t>
                                        </m:r>
                                      </m:e>
                                    </m:d>
                                  </m:e>
                                </m:mr>
                              </m:m>
                            </m:e>
                            <m:e>
                              <m:r>
                                <a:rPr lang="ko-KR" altLang="en-US" sz="1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ko-KR" altLang="en-US" sz="14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ko-KR" altLang="en-US" sz="1400" i="0">
                                        <a:latin typeface="Cambria Math" panose="02040503050406030204" pitchFamily="18" charset="0"/>
                                      </a:rPr>
                                      <m:t>   </m:t>
                                    </m:r>
                                    <m:d>
                                      <m:dPr>
                                        <m:ctrlPr>
                                          <a:rPr lang="ko-KR" altLang="en-US" sz="1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ko-KR" altLang="en-US" sz="14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ko-KR" altLang="en-US" sz="14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4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ko-KR" altLang="en-US" sz="1400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ko-KR" altLang="en-US" sz="1400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  <m:r>
                                          <a:rPr lang="ko-KR" altLang="en-US" sz="1400" i="0">
                                            <a:latin typeface="Cambria Math" panose="02040503050406030204" pitchFamily="18" charset="0"/>
                                          </a:rPr>
                                          <m:t>≥0</m:t>
                                        </m:r>
                                      </m:e>
                                    </m:d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0B82AC1-2092-3409-EF3E-E470EF367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60" y="5135057"/>
                <a:ext cx="3578645" cy="572914"/>
              </a:xfrm>
              <a:prstGeom prst="rect">
                <a:avLst/>
              </a:prstGeom>
              <a:blipFill>
                <a:blip r:embed="rId6"/>
                <a:stretch>
                  <a:fillRect t="-179787" b="-2648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F31EC9C-AF54-0AF6-ED82-A0DC2737FAB1}"/>
              </a:ext>
            </a:extLst>
          </p:cNvPr>
          <p:cNvCxnSpPr>
            <a:cxnSpLocks/>
          </p:cNvCxnSpPr>
          <p:nvPr/>
        </p:nvCxnSpPr>
        <p:spPr>
          <a:xfrm>
            <a:off x="6251813" y="1073977"/>
            <a:ext cx="0" cy="508831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945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89DBDE-7857-C09A-C621-8D251378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800" y="6393247"/>
            <a:ext cx="2743200" cy="365125"/>
          </a:xfrm>
        </p:spPr>
        <p:txBody>
          <a:bodyPr/>
          <a:lstStyle/>
          <a:p>
            <a:fld id="{D3060201-1C40-4B39-813D-5CD9493BAEED}" type="slidenum">
              <a:rPr lang="en-US" smtClean="0"/>
              <a:t>9</a:t>
            </a:fld>
            <a:endParaRPr 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42FF751-3820-8E67-A8E9-8E6722B19A58}"/>
              </a:ext>
            </a:extLst>
          </p:cNvPr>
          <p:cNvCxnSpPr/>
          <p:nvPr/>
        </p:nvCxnSpPr>
        <p:spPr>
          <a:xfrm>
            <a:off x="336000" y="6356350"/>
            <a:ext cx="11520000" cy="0"/>
          </a:xfrm>
          <a:prstGeom prst="line">
            <a:avLst/>
          </a:prstGeom>
          <a:ln w="63500" cmpd="dbl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7AE42FD-771C-5070-9A3C-FC47B06C93B6}"/>
              </a:ext>
            </a:extLst>
          </p:cNvPr>
          <p:cNvSpPr txBox="1"/>
          <p:nvPr/>
        </p:nvSpPr>
        <p:spPr>
          <a:xfrm>
            <a:off x="336000" y="339830"/>
            <a:ext cx="2736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highlight>
                  <a:srgbClr val="00FFFF"/>
                </a:highlight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  </a:t>
            </a:r>
            <a:r>
              <a:rPr lang="en-US" altLang="ko-KR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Ⅱ. </a:t>
            </a:r>
            <a:r>
              <a:rPr lang="ko-KR" altLang="en-US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제안한 방법</a:t>
            </a:r>
            <a:endParaRPr lang="en-US" altLang="ko-KR" sz="2400" dirty="0">
              <a:latin typeface="210 청춘시대 R" panose="02020603020101020101" pitchFamily="18" charset="-127"/>
              <a:ea typeface="210 청춘시대 R" panose="02020603020101020101" pitchFamily="18" charset="-127"/>
              <a:cs typeface="Times New Roman" panose="02020603050405020304" pitchFamily="18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D76A74A-086B-FFFE-39F3-3170965685AC}"/>
              </a:ext>
            </a:extLst>
          </p:cNvPr>
          <p:cNvCxnSpPr/>
          <p:nvPr/>
        </p:nvCxnSpPr>
        <p:spPr>
          <a:xfrm>
            <a:off x="357771" y="913497"/>
            <a:ext cx="11520000" cy="0"/>
          </a:xfrm>
          <a:prstGeom prst="line">
            <a:avLst/>
          </a:prstGeom>
          <a:ln w="44450" cmpd="sng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603F6663-8602-0D47-375B-A6505FB96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863" y="3401634"/>
            <a:ext cx="6638485" cy="118508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B632653-0C0A-C08D-63DF-63A3613261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7" t="11295" r="51652" b="56822"/>
          <a:stretch/>
        </p:blipFill>
        <p:spPr>
          <a:xfrm>
            <a:off x="5110977" y="6407925"/>
            <a:ext cx="1132311" cy="368197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5E5AA8E-FAC3-4724-8495-216A8CFA2E4E}"/>
              </a:ext>
            </a:extLst>
          </p:cNvPr>
          <p:cNvSpPr/>
          <p:nvPr/>
        </p:nvSpPr>
        <p:spPr>
          <a:xfrm>
            <a:off x="615257" y="1326230"/>
            <a:ext cx="2380416" cy="48117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3</a:t>
            </a:r>
            <a:r>
              <a:rPr lang="en-US" altLang="ko-KR" b="1">
                <a:solidFill>
                  <a:schemeClr val="tx1"/>
                </a:solidFill>
              </a:rPr>
              <a:t>. </a:t>
            </a:r>
            <a:r>
              <a:rPr lang="ko-KR" altLang="en-US" b="1" dirty="0">
                <a:solidFill>
                  <a:schemeClr val="tx1"/>
                </a:solidFill>
              </a:rPr>
              <a:t>우선순위 정책변경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6DC7F-7154-4867-8AF4-351EA0C712AB}"/>
              </a:ext>
            </a:extLst>
          </p:cNvPr>
          <p:cNvSpPr txBox="1"/>
          <p:nvPr/>
        </p:nvSpPr>
        <p:spPr>
          <a:xfrm>
            <a:off x="2474315" y="2980728"/>
            <a:ext cx="2506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예시 </a:t>
            </a:r>
            <a:r>
              <a:rPr lang="en-US" altLang="ko-KR" dirty="0"/>
              <a:t>: Easy-to-Hard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0FD2E8-0DCA-8CB0-6166-F4531386C789}"/>
              </a:ext>
            </a:extLst>
          </p:cNvPr>
          <p:cNvSpPr txBox="1"/>
          <p:nvPr/>
        </p:nvSpPr>
        <p:spPr>
          <a:xfrm>
            <a:off x="884301" y="2023890"/>
            <a:ext cx="4376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(Priority) Mode Changeable </a:t>
            </a:r>
            <a:r>
              <a:rPr lang="en-US" altLang="ko-KR" dirty="0" err="1"/>
              <a:t>SuperLoss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1903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89DBDE-7857-C09A-C621-8D251378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800" y="6393247"/>
            <a:ext cx="2743200" cy="365125"/>
          </a:xfrm>
        </p:spPr>
        <p:txBody>
          <a:bodyPr/>
          <a:lstStyle/>
          <a:p>
            <a:fld id="{D3060201-1C40-4B39-813D-5CD9493BAEED}" type="slidenum">
              <a:rPr lang="en-US" smtClean="0"/>
              <a:t>10</a:t>
            </a:fld>
            <a:endParaRPr 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42FF751-3820-8E67-A8E9-8E6722B19A58}"/>
              </a:ext>
            </a:extLst>
          </p:cNvPr>
          <p:cNvCxnSpPr/>
          <p:nvPr/>
        </p:nvCxnSpPr>
        <p:spPr>
          <a:xfrm>
            <a:off x="336000" y="6356350"/>
            <a:ext cx="11520000" cy="0"/>
          </a:xfrm>
          <a:prstGeom prst="line">
            <a:avLst/>
          </a:prstGeom>
          <a:ln w="63500" cmpd="dbl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7AE42FD-771C-5070-9A3C-FC47B06C93B6}"/>
              </a:ext>
            </a:extLst>
          </p:cNvPr>
          <p:cNvSpPr txBox="1"/>
          <p:nvPr/>
        </p:nvSpPr>
        <p:spPr>
          <a:xfrm>
            <a:off x="336000" y="339830"/>
            <a:ext cx="2428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highlight>
                  <a:srgbClr val="00FFFF"/>
                </a:highlight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  </a:t>
            </a:r>
            <a:r>
              <a:rPr lang="en-US" altLang="ko-KR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Ⅲ. </a:t>
            </a:r>
            <a:r>
              <a:rPr lang="ko-KR" altLang="en-US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실험 설계</a:t>
            </a:r>
            <a:endParaRPr lang="en-US" altLang="ko-KR" sz="2400" dirty="0">
              <a:latin typeface="210 청춘시대 R" panose="02020603020101020101" pitchFamily="18" charset="-127"/>
              <a:ea typeface="210 청춘시대 R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DFEA74-BDBB-E5F6-70ED-3DDEACD72578}"/>
              </a:ext>
            </a:extLst>
          </p:cNvPr>
          <p:cNvSpPr txBox="1"/>
          <p:nvPr/>
        </p:nvSpPr>
        <p:spPr>
          <a:xfrm>
            <a:off x="813018" y="1163488"/>
            <a:ext cx="10713367" cy="506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6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 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D76A74A-086B-FFFE-39F3-3170965685AC}"/>
              </a:ext>
            </a:extLst>
          </p:cNvPr>
          <p:cNvCxnSpPr/>
          <p:nvPr/>
        </p:nvCxnSpPr>
        <p:spPr>
          <a:xfrm>
            <a:off x="357771" y="913497"/>
            <a:ext cx="11520000" cy="0"/>
          </a:xfrm>
          <a:prstGeom prst="line">
            <a:avLst/>
          </a:prstGeom>
          <a:ln w="44450" cmpd="sng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623D79E-5D14-22A2-40B8-99191D7F7866}"/>
              </a:ext>
            </a:extLst>
          </p:cNvPr>
          <p:cNvSpPr txBox="1"/>
          <p:nvPr/>
        </p:nvSpPr>
        <p:spPr>
          <a:xfrm>
            <a:off x="748075" y="3635519"/>
            <a:ext cx="5708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학습률</a:t>
            </a:r>
            <a:r>
              <a:rPr lang="ko-KR" altLang="en-US" dirty="0"/>
              <a:t>  </a:t>
            </a:r>
            <a:r>
              <a:rPr lang="en-US" altLang="ko-KR" dirty="0"/>
              <a:t>:  0.0005 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626F03-DF07-4E09-9131-7B772B1B3FFE}"/>
              </a:ext>
            </a:extLst>
          </p:cNvPr>
          <p:cNvSpPr txBox="1"/>
          <p:nvPr/>
        </p:nvSpPr>
        <p:spPr>
          <a:xfrm>
            <a:off x="782593" y="3173747"/>
            <a:ext cx="5200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노이즈 추가 </a:t>
            </a:r>
            <a:r>
              <a:rPr lang="en-US" altLang="ko-KR" dirty="0"/>
              <a:t>: 10%, 30%, 50% 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85B9D7-5840-F5CB-0377-F3FC147B1891}"/>
              </a:ext>
            </a:extLst>
          </p:cNvPr>
          <p:cNvSpPr txBox="1"/>
          <p:nvPr/>
        </p:nvSpPr>
        <p:spPr>
          <a:xfrm>
            <a:off x="781947" y="2650783"/>
            <a:ext cx="5387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Base Model</a:t>
            </a:r>
            <a:r>
              <a:rPr lang="ko-KR" altLang="en-US" dirty="0"/>
              <a:t> </a:t>
            </a:r>
            <a:r>
              <a:rPr lang="en-US" altLang="ko-KR" dirty="0"/>
              <a:t>:  CCT(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함초롬바탕" panose="02030604000101010101" pitchFamily="18" charset="-127"/>
              </a:rPr>
              <a:t>compact convolutional transformer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5739A-E2D4-E772-ED97-A6AC18EE7F1B}"/>
              </a:ext>
            </a:extLst>
          </p:cNvPr>
          <p:cNvSpPr txBox="1"/>
          <p:nvPr/>
        </p:nvSpPr>
        <p:spPr>
          <a:xfrm>
            <a:off x="748075" y="5153918"/>
            <a:ext cx="5708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최적화 함수 </a:t>
            </a:r>
            <a:r>
              <a:rPr lang="en-US" altLang="ko-KR" dirty="0"/>
              <a:t>: </a:t>
            </a:r>
            <a:r>
              <a:rPr lang="en-US" altLang="ko-KR" dirty="0" err="1"/>
              <a:t>RAdam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1644F30-35C7-2E7F-B894-4C42D5A78EBD}"/>
              </a:ext>
            </a:extLst>
          </p:cNvPr>
          <p:cNvSpPr/>
          <p:nvPr/>
        </p:nvSpPr>
        <p:spPr>
          <a:xfrm>
            <a:off x="781947" y="1254319"/>
            <a:ext cx="4595123" cy="53510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실험 설계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2673EE-8672-CEFC-E67E-DFC41BBDA30F}"/>
              </a:ext>
            </a:extLst>
          </p:cNvPr>
          <p:cNvSpPr txBox="1"/>
          <p:nvPr/>
        </p:nvSpPr>
        <p:spPr>
          <a:xfrm>
            <a:off x="748075" y="4145844"/>
            <a:ext cx="5708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배치 크기  </a:t>
            </a:r>
            <a:r>
              <a:rPr lang="en-US" altLang="ko-KR" dirty="0"/>
              <a:t>: 128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819ACD-DC46-3941-64AA-72D15D60AFD3}"/>
              </a:ext>
            </a:extLst>
          </p:cNvPr>
          <p:cNvSpPr txBox="1"/>
          <p:nvPr/>
        </p:nvSpPr>
        <p:spPr>
          <a:xfrm>
            <a:off x="748075" y="4626388"/>
            <a:ext cx="5708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Epoch</a:t>
            </a:r>
            <a:r>
              <a:rPr lang="ko-KR" altLang="en-US" dirty="0"/>
              <a:t>  </a:t>
            </a:r>
            <a:r>
              <a:rPr lang="en-US" altLang="ko-KR" dirty="0"/>
              <a:t>: 100 </a:t>
            </a:r>
            <a:endParaRPr lang="ko-KR" altLang="en-US" dirty="0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AD19B18-D80C-070A-A9C7-B45FD59FB33E}"/>
              </a:ext>
            </a:extLst>
          </p:cNvPr>
          <p:cNvCxnSpPr>
            <a:cxnSpLocks/>
          </p:cNvCxnSpPr>
          <p:nvPr/>
        </p:nvCxnSpPr>
        <p:spPr>
          <a:xfrm>
            <a:off x="6243288" y="1091363"/>
            <a:ext cx="0" cy="508831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0524E26-4468-66A7-1A9C-4892D1B57568}"/>
              </a:ext>
            </a:extLst>
          </p:cNvPr>
          <p:cNvSpPr txBox="1"/>
          <p:nvPr/>
        </p:nvSpPr>
        <p:spPr>
          <a:xfrm>
            <a:off x="781947" y="2093396"/>
            <a:ext cx="516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Dataset</a:t>
            </a:r>
            <a:r>
              <a:rPr lang="ko-KR" altLang="en-US" dirty="0"/>
              <a:t>  </a:t>
            </a:r>
            <a:r>
              <a:rPr lang="en-US" altLang="ko-KR" dirty="0"/>
              <a:t>: Cifar10 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9B9B3C9-6DAF-FE76-0716-0ABCC0C6DA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7" t="11295" r="51652" b="56822"/>
          <a:stretch/>
        </p:blipFill>
        <p:spPr>
          <a:xfrm>
            <a:off x="5110977" y="6407925"/>
            <a:ext cx="1132311" cy="36819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2D51067-EC8C-46D4-8453-AAC9D91FE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536" y="1521870"/>
            <a:ext cx="4549849" cy="385265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F2BDA60-C996-4A64-932B-274C672F1F12}"/>
              </a:ext>
            </a:extLst>
          </p:cNvPr>
          <p:cNvSpPr txBox="1"/>
          <p:nvPr/>
        </p:nvSpPr>
        <p:spPr>
          <a:xfrm>
            <a:off x="7276894" y="6021791"/>
            <a:ext cx="47051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https://production-media.paperswithcode.com/methods/cct_sBBD6Sv.png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748660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89DBDE-7857-C09A-C621-8D251378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800" y="6393247"/>
            <a:ext cx="2743200" cy="365125"/>
          </a:xfrm>
        </p:spPr>
        <p:txBody>
          <a:bodyPr/>
          <a:lstStyle/>
          <a:p>
            <a:fld id="{D3060201-1C40-4B39-813D-5CD9493BAEED}" type="slidenum">
              <a:rPr lang="en-US" smtClean="0"/>
              <a:t>11</a:t>
            </a:fld>
            <a:endParaRPr 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42FF751-3820-8E67-A8E9-8E6722B19A58}"/>
              </a:ext>
            </a:extLst>
          </p:cNvPr>
          <p:cNvCxnSpPr/>
          <p:nvPr/>
        </p:nvCxnSpPr>
        <p:spPr>
          <a:xfrm>
            <a:off x="336000" y="6356350"/>
            <a:ext cx="11520000" cy="0"/>
          </a:xfrm>
          <a:prstGeom prst="line">
            <a:avLst/>
          </a:prstGeom>
          <a:ln w="63500" cmpd="dbl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7AE42FD-771C-5070-9A3C-FC47B06C93B6}"/>
              </a:ext>
            </a:extLst>
          </p:cNvPr>
          <p:cNvSpPr txBox="1"/>
          <p:nvPr/>
        </p:nvSpPr>
        <p:spPr>
          <a:xfrm>
            <a:off x="336000" y="339830"/>
            <a:ext cx="2428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highlight>
                  <a:srgbClr val="00FFFF"/>
                </a:highlight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  </a:t>
            </a:r>
            <a:r>
              <a:rPr lang="en-US" altLang="ko-KR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Ⅲ. </a:t>
            </a:r>
            <a:r>
              <a:rPr lang="ko-KR" altLang="en-US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실험 설계</a:t>
            </a:r>
            <a:endParaRPr lang="en-US" altLang="ko-KR" sz="2400" dirty="0">
              <a:latin typeface="210 청춘시대 R" panose="02020603020101020101" pitchFamily="18" charset="-127"/>
              <a:ea typeface="210 청춘시대 R" panose="02020603020101020101" pitchFamily="18" charset="-127"/>
              <a:cs typeface="Times New Roman" panose="02020603050405020304" pitchFamily="18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D76A74A-086B-FFFE-39F3-3170965685AC}"/>
              </a:ext>
            </a:extLst>
          </p:cNvPr>
          <p:cNvCxnSpPr/>
          <p:nvPr/>
        </p:nvCxnSpPr>
        <p:spPr>
          <a:xfrm>
            <a:off x="357771" y="913497"/>
            <a:ext cx="11520000" cy="0"/>
          </a:xfrm>
          <a:prstGeom prst="line">
            <a:avLst/>
          </a:prstGeom>
          <a:ln w="44450" cmpd="sng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BC727B0-50FE-4F17-A0C6-873762050C33}"/>
              </a:ext>
            </a:extLst>
          </p:cNvPr>
          <p:cNvSpPr txBox="1"/>
          <p:nvPr/>
        </p:nvSpPr>
        <p:spPr>
          <a:xfrm>
            <a:off x="1068672" y="3377767"/>
            <a:ext cx="780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고정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FEA346-3ED9-427E-B3EF-5D6731EF2505}"/>
              </a:ext>
            </a:extLst>
          </p:cNvPr>
          <p:cNvSpPr txBox="1"/>
          <p:nvPr/>
        </p:nvSpPr>
        <p:spPr>
          <a:xfrm>
            <a:off x="1102793" y="4646945"/>
            <a:ext cx="746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변경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103E7DA-0228-6FFE-BA6C-D3AD29EF2F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7" t="11295" r="51652" b="56822"/>
          <a:stretch/>
        </p:blipFill>
        <p:spPr>
          <a:xfrm>
            <a:off x="5454240" y="6454318"/>
            <a:ext cx="1132311" cy="368197"/>
          </a:xfrm>
          <a:prstGeom prst="rect">
            <a:avLst/>
          </a:prstGeom>
        </p:spPr>
      </p:pic>
      <p:sp>
        <p:nvSpPr>
          <p:cNvPr id="9" name="빼기 기호 8">
            <a:extLst>
              <a:ext uri="{FF2B5EF4-FFF2-40B4-BE49-F238E27FC236}">
                <a16:creationId xmlns:a16="http://schemas.microsoft.com/office/drawing/2014/main" id="{DB19B85D-6B2A-B8F8-536C-72F7435D0B69}"/>
              </a:ext>
            </a:extLst>
          </p:cNvPr>
          <p:cNvSpPr/>
          <p:nvPr/>
        </p:nvSpPr>
        <p:spPr>
          <a:xfrm>
            <a:off x="1787756" y="3000718"/>
            <a:ext cx="633775" cy="246221"/>
          </a:xfrm>
          <a:prstGeom prst="mathMin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44A72F8-A55D-B9FF-3CD6-12FAC6EEA96C}"/>
              </a:ext>
            </a:extLst>
          </p:cNvPr>
          <p:cNvSpPr/>
          <p:nvPr/>
        </p:nvSpPr>
        <p:spPr>
          <a:xfrm>
            <a:off x="2338073" y="2352620"/>
            <a:ext cx="2263805" cy="492437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Baseline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F067DF-373A-613E-2A86-1B90CD989EE3}"/>
              </a:ext>
            </a:extLst>
          </p:cNvPr>
          <p:cNvSpPr/>
          <p:nvPr/>
        </p:nvSpPr>
        <p:spPr>
          <a:xfrm>
            <a:off x="2338074" y="2849113"/>
            <a:ext cx="2263805" cy="492437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Easy-First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569BC18-D6B1-3FF9-0C4A-9F334974CADE}"/>
              </a:ext>
            </a:extLst>
          </p:cNvPr>
          <p:cNvSpPr/>
          <p:nvPr/>
        </p:nvSpPr>
        <p:spPr>
          <a:xfrm>
            <a:off x="2338075" y="3345606"/>
            <a:ext cx="2263805" cy="49243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Hard-First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C1071C3-1D12-C69A-EDBD-A6F5FA085FB0}"/>
              </a:ext>
            </a:extLst>
          </p:cNvPr>
          <p:cNvSpPr/>
          <p:nvPr/>
        </p:nvSpPr>
        <p:spPr>
          <a:xfrm>
            <a:off x="2338075" y="3830300"/>
            <a:ext cx="2263805" cy="49243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Medium-First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8E9FA5E-1CC8-F8E7-DA2E-84815816EB15}"/>
              </a:ext>
            </a:extLst>
          </p:cNvPr>
          <p:cNvSpPr/>
          <p:nvPr/>
        </p:nvSpPr>
        <p:spPr>
          <a:xfrm>
            <a:off x="2338075" y="4322739"/>
            <a:ext cx="2263805" cy="49243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Easy-to-Hard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CD15C49-18EC-AEB2-56D5-B39936D9CF05}"/>
              </a:ext>
            </a:extLst>
          </p:cNvPr>
          <p:cNvCxnSpPr>
            <a:cxnSpLocks/>
          </p:cNvCxnSpPr>
          <p:nvPr/>
        </p:nvCxnSpPr>
        <p:spPr>
          <a:xfrm>
            <a:off x="6117771" y="1192316"/>
            <a:ext cx="0" cy="495815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F4ED2F5-C0DC-266C-1770-A87155E432BB}"/>
              </a:ext>
            </a:extLst>
          </p:cNvPr>
          <p:cNvSpPr/>
          <p:nvPr/>
        </p:nvSpPr>
        <p:spPr>
          <a:xfrm>
            <a:off x="1102793" y="1192316"/>
            <a:ext cx="4595123" cy="53510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Method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02F63ED-5D21-6AA3-19D5-9E140484DF53}"/>
              </a:ext>
            </a:extLst>
          </p:cNvPr>
          <p:cNvSpPr/>
          <p:nvPr/>
        </p:nvSpPr>
        <p:spPr>
          <a:xfrm>
            <a:off x="2338073" y="4833641"/>
            <a:ext cx="2263805" cy="49243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Easy-to-Medium</a:t>
            </a:r>
            <a:endParaRPr lang="ko-KR" altLang="en-US" dirty="0"/>
          </a:p>
        </p:txBody>
      </p:sp>
      <p:sp>
        <p:nvSpPr>
          <p:cNvPr id="26" name="빼기 기호 25">
            <a:extLst>
              <a:ext uri="{FF2B5EF4-FFF2-40B4-BE49-F238E27FC236}">
                <a16:creationId xmlns:a16="http://schemas.microsoft.com/office/drawing/2014/main" id="{5BEE3DF5-11C3-DDDC-8631-A42FF0AFB890}"/>
              </a:ext>
            </a:extLst>
          </p:cNvPr>
          <p:cNvSpPr/>
          <p:nvPr/>
        </p:nvSpPr>
        <p:spPr>
          <a:xfrm>
            <a:off x="1787758" y="3479236"/>
            <a:ext cx="633775" cy="246221"/>
          </a:xfrm>
          <a:prstGeom prst="mathMin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빼기 기호 27">
            <a:extLst>
              <a:ext uri="{FF2B5EF4-FFF2-40B4-BE49-F238E27FC236}">
                <a16:creationId xmlns:a16="http://schemas.microsoft.com/office/drawing/2014/main" id="{08F2642D-9F13-8154-C1DC-5B0B979D561A}"/>
              </a:ext>
            </a:extLst>
          </p:cNvPr>
          <p:cNvSpPr/>
          <p:nvPr/>
        </p:nvSpPr>
        <p:spPr>
          <a:xfrm>
            <a:off x="1787757" y="3953407"/>
            <a:ext cx="633775" cy="246221"/>
          </a:xfrm>
          <a:prstGeom prst="mathMin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빼기 기호 28">
            <a:extLst>
              <a:ext uri="{FF2B5EF4-FFF2-40B4-BE49-F238E27FC236}">
                <a16:creationId xmlns:a16="http://schemas.microsoft.com/office/drawing/2014/main" id="{F05C16F8-8533-2A8D-B885-0FA1B6F8F84A}"/>
              </a:ext>
            </a:extLst>
          </p:cNvPr>
          <p:cNvSpPr/>
          <p:nvPr/>
        </p:nvSpPr>
        <p:spPr>
          <a:xfrm rot="5400000">
            <a:off x="1212395" y="3487764"/>
            <a:ext cx="1364569" cy="234461"/>
          </a:xfrm>
          <a:prstGeom prst="mathMin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빼기 기호 29">
            <a:extLst>
              <a:ext uri="{FF2B5EF4-FFF2-40B4-BE49-F238E27FC236}">
                <a16:creationId xmlns:a16="http://schemas.microsoft.com/office/drawing/2014/main" id="{35ACEAF7-1EDE-CE40-6FB2-0214B2277A40}"/>
              </a:ext>
            </a:extLst>
          </p:cNvPr>
          <p:cNvSpPr/>
          <p:nvPr/>
        </p:nvSpPr>
        <p:spPr>
          <a:xfrm>
            <a:off x="1789402" y="4473599"/>
            <a:ext cx="633775" cy="246221"/>
          </a:xfrm>
          <a:prstGeom prst="mathMin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빼기 기호 30">
            <a:extLst>
              <a:ext uri="{FF2B5EF4-FFF2-40B4-BE49-F238E27FC236}">
                <a16:creationId xmlns:a16="http://schemas.microsoft.com/office/drawing/2014/main" id="{E96D9E07-FD95-E00B-447F-3AB74073F2F7}"/>
              </a:ext>
            </a:extLst>
          </p:cNvPr>
          <p:cNvSpPr/>
          <p:nvPr/>
        </p:nvSpPr>
        <p:spPr>
          <a:xfrm>
            <a:off x="1789404" y="4952117"/>
            <a:ext cx="633775" cy="246221"/>
          </a:xfrm>
          <a:prstGeom prst="mathMin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빼기 기호 32">
            <a:extLst>
              <a:ext uri="{FF2B5EF4-FFF2-40B4-BE49-F238E27FC236}">
                <a16:creationId xmlns:a16="http://schemas.microsoft.com/office/drawing/2014/main" id="{B7C47258-AF78-15C4-49FF-ACFE7C37910E}"/>
              </a:ext>
            </a:extLst>
          </p:cNvPr>
          <p:cNvSpPr/>
          <p:nvPr/>
        </p:nvSpPr>
        <p:spPr>
          <a:xfrm rot="5400000">
            <a:off x="1525844" y="4733344"/>
            <a:ext cx="739272" cy="232772"/>
          </a:xfrm>
          <a:prstGeom prst="mathMin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5B5D9BD-05E9-D2B5-474D-E9CEB369D27A}"/>
              </a:ext>
            </a:extLst>
          </p:cNvPr>
          <p:cNvSpPr/>
          <p:nvPr/>
        </p:nvSpPr>
        <p:spPr>
          <a:xfrm>
            <a:off x="6656909" y="1192316"/>
            <a:ext cx="4595123" cy="53510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하이퍼</a:t>
            </a:r>
            <a:r>
              <a:rPr lang="ko-KR" altLang="en-US" dirty="0">
                <a:solidFill>
                  <a:schemeClr val="tx1"/>
                </a:solidFill>
              </a:rPr>
              <a:t> 파라미터 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6CCD0E6-DA9A-ECA9-B5B3-A6307A603917}"/>
              </a:ext>
            </a:extLst>
          </p:cNvPr>
          <p:cNvSpPr/>
          <p:nvPr/>
        </p:nvSpPr>
        <p:spPr>
          <a:xfrm>
            <a:off x="8111536" y="2938296"/>
            <a:ext cx="1371005" cy="80650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Tau = 2.3</a:t>
            </a:r>
          </a:p>
          <a:p>
            <a:pPr algn="ctr"/>
            <a:r>
              <a:rPr lang="en-US" altLang="ko-KR" dirty="0"/>
              <a:t>Mom = 0.1</a:t>
            </a:r>
            <a:endParaRPr lang="ko-KR" altLang="en-US" dirty="0"/>
          </a:p>
          <a:p>
            <a:pPr algn="ctr"/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2C60BFA-7A36-FE6C-E153-48CFA7E9014A}"/>
              </a:ext>
            </a:extLst>
          </p:cNvPr>
          <p:cNvSpPr/>
          <p:nvPr/>
        </p:nvSpPr>
        <p:spPr>
          <a:xfrm>
            <a:off x="9627429" y="3102946"/>
            <a:ext cx="1553626" cy="60457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Lam = 1.0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02FDD2-A310-45C5-9DA3-930F67E73C25}"/>
                  </a:ext>
                </a:extLst>
              </p:cNvPr>
              <p:cNvSpPr txBox="1"/>
              <p:nvPr/>
            </p:nvSpPr>
            <p:spPr>
              <a:xfrm>
                <a:off x="6652844" y="2139797"/>
                <a:ext cx="4754707" cy="461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sz="2400">
                              <a:latin typeface="Cambria Math" panose="02040503050406030204" pitchFamily="18" charset="0"/>
                            </a:rPr>
                            <m:t>SL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ko-KR" altLang="en-US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ko-KR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ko-KR" alt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ko-KR" altLang="en-US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sSub>
                        <m:sSubPr>
                          <m:ctrlPr>
                            <a:rPr lang="ko-KR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2400" i="1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ko-KR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ko-KR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ko-KR" altLang="en-US" sz="2400" i="0" smtClean="0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ko-KR" altLang="en-US" sz="2400" i="0">
                                      <a:latin typeface="Cambria Math" panose="02040503050406030204" pitchFamily="18" charset="0"/>
                                    </a:rPr>
                                    <m:t>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ko-KR" altLang="en-US" sz="2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4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ko-KR" alt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ko-KR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02FDD2-A310-45C5-9DA3-930F67E73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844" y="2139797"/>
                <a:ext cx="4754707" cy="461664"/>
              </a:xfrm>
              <a:prstGeom prst="rect">
                <a:avLst/>
              </a:prstGeom>
              <a:blipFill>
                <a:blip r:embed="rId3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40BB3D6E-30E8-49C9-A65E-A33713D9F32E}"/>
              </a:ext>
            </a:extLst>
          </p:cNvPr>
          <p:cNvCxnSpPr>
            <a:cxnSpLocks/>
          </p:cNvCxnSpPr>
          <p:nvPr/>
        </p:nvCxnSpPr>
        <p:spPr>
          <a:xfrm flipV="1">
            <a:off x="8954470" y="2598839"/>
            <a:ext cx="0" cy="2321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FCA87C9-0F9F-4987-8F3E-FE4E6BA85CD1}"/>
              </a:ext>
            </a:extLst>
          </p:cNvPr>
          <p:cNvCxnSpPr>
            <a:cxnSpLocks/>
          </p:cNvCxnSpPr>
          <p:nvPr/>
        </p:nvCxnSpPr>
        <p:spPr>
          <a:xfrm flipV="1">
            <a:off x="9866489" y="2585052"/>
            <a:ext cx="0" cy="415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421A1C9E-89D4-4394-804A-515C8C16DDFB}"/>
              </a:ext>
            </a:extLst>
          </p:cNvPr>
          <p:cNvCxnSpPr>
            <a:cxnSpLocks/>
          </p:cNvCxnSpPr>
          <p:nvPr/>
        </p:nvCxnSpPr>
        <p:spPr>
          <a:xfrm>
            <a:off x="2338073" y="3341550"/>
            <a:ext cx="364206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AE0EC3BB-4B43-4FA5-8555-44E1CB3BEC71}"/>
              </a:ext>
            </a:extLst>
          </p:cNvPr>
          <p:cNvSpPr/>
          <p:nvPr/>
        </p:nvSpPr>
        <p:spPr>
          <a:xfrm>
            <a:off x="5194770" y="2874721"/>
            <a:ext cx="759886" cy="40325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기존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78B42079-E11E-4971-B88F-A077F7E3C110}"/>
              </a:ext>
            </a:extLst>
          </p:cNvPr>
          <p:cNvSpPr/>
          <p:nvPr/>
        </p:nvSpPr>
        <p:spPr>
          <a:xfrm>
            <a:off x="5194769" y="3383890"/>
            <a:ext cx="759887" cy="403254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제안</a:t>
            </a:r>
          </a:p>
        </p:txBody>
      </p:sp>
    </p:spTree>
    <p:extLst>
      <p:ext uri="{BB962C8B-B14F-4D97-AF65-F5344CB8AC3E}">
        <p14:creationId xmlns:p14="http://schemas.microsoft.com/office/powerpoint/2010/main" val="3428705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89DBDE-7857-C09A-C621-8D251378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800" y="6393247"/>
            <a:ext cx="2743200" cy="365125"/>
          </a:xfrm>
        </p:spPr>
        <p:txBody>
          <a:bodyPr/>
          <a:lstStyle/>
          <a:p>
            <a:fld id="{D3060201-1C40-4B39-813D-5CD9493BAEED}" type="slidenum">
              <a:rPr lang="en-US" smtClean="0"/>
              <a:t>12</a:t>
            </a:fld>
            <a:endParaRPr 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42FF751-3820-8E67-A8E9-8E6722B19A58}"/>
              </a:ext>
            </a:extLst>
          </p:cNvPr>
          <p:cNvCxnSpPr/>
          <p:nvPr/>
        </p:nvCxnSpPr>
        <p:spPr>
          <a:xfrm>
            <a:off x="336000" y="6356350"/>
            <a:ext cx="11520000" cy="0"/>
          </a:xfrm>
          <a:prstGeom prst="line">
            <a:avLst/>
          </a:prstGeom>
          <a:ln w="63500" cmpd="dbl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7AE42FD-771C-5070-9A3C-FC47B06C93B6}"/>
              </a:ext>
            </a:extLst>
          </p:cNvPr>
          <p:cNvSpPr txBox="1"/>
          <p:nvPr/>
        </p:nvSpPr>
        <p:spPr>
          <a:xfrm>
            <a:off x="336000" y="339830"/>
            <a:ext cx="35702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highlight>
                  <a:srgbClr val="00FFFF"/>
                </a:highlight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  </a:t>
            </a:r>
            <a:r>
              <a:rPr lang="en-US" altLang="ko-KR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Ⅳ. </a:t>
            </a:r>
            <a:r>
              <a:rPr lang="ko-KR" altLang="en-US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실험 결과 및 분석</a:t>
            </a:r>
            <a:endParaRPr lang="en-US" altLang="ko-KR" sz="2400" dirty="0">
              <a:latin typeface="210 청춘시대 R" panose="02020603020101020101" pitchFamily="18" charset="-127"/>
              <a:ea typeface="210 청춘시대 R" panose="02020603020101020101" pitchFamily="18" charset="-127"/>
              <a:cs typeface="Times New Roman" panose="02020603050405020304" pitchFamily="18" charset="0"/>
            </a:endParaRPr>
          </a:p>
          <a:p>
            <a:endParaRPr lang="en-US" altLang="ko-KR" sz="2400" dirty="0">
              <a:latin typeface="210 청춘시대 R" panose="02020603020101020101" pitchFamily="18" charset="-127"/>
              <a:ea typeface="210 청춘시대 R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DFEA74-BDBB-E5F6-70ED-3DDEACD72578}"/>
              </a:ext>
            </a:extLst>
          </p:cNvPr>
          <p:cNvSpPr txBox="1"/>
          <p:nvPr/>
        </p:nvSpPr>
        <p:spPr>
          <a:xfrm>
            <a:off x="781947" y="1163489"/>
            <a:ext cx="10713367" cy="506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6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 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D76A74A-086B-FFFE-39F3-3170965685AC}"/>
              </a:ext>
            </a:extLst>
          </p:cNvPr>
          <p:cNvCxnSpPr/>
          <p:nvPr/>
        </p:nvCxnSpPr>
        <p:spPr>
          <a:xfrm>
            <a:off x="357771" y="913497"/>
            <a:ext cx="11520000" cy="0"/>
          </a:xfrm>
          <a:prstGeom prst="line">
            <a:avLst/>
          </a:prstGeom>
          <a:ln w="44450" cmpd="sng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DB9CC3D2-C921-DF50-D7DC-3DD8AD978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63" y="1583723"/>
            <a:ext cx="6011497" cy="3107812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82C9D3C-1345-A828-9F49-5CFADB1FBD34}"/>
              </a:ext>
            </a:extLst>
          </p:cNvPr>
          <p:cNvSpPr/>
          <p:nvPr/>
        </p:nvSpPr>
        <p:spPr>
          <a:xfrm>
            <a:off x="1953088" y="5392981"/>
            <a:ext cx="8593584" cy="74155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돋움" panose="020B0600000101010101" pitchFamily="50" charset="-127"/>
              </a:rPr>
              <a:t>Label corruption ratio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에 따른 각 방법의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돋움" panose="020B0600000101010101" pitchFamily="50" charset="-127"/>
              </a:rPr>
              <a:t>CIFAR-10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한양신명조"/>
                <a:ea typeface="돋움" panose="020B0600000101010101" pitchFamily="50" charset="-127"/>
              </a:rPr>
              <a:t> 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평가 세트에서의 분류 정확도</a:t>
            </a:r>
            <a:endParaRPr lang="ko-KR" altLang="en-US" sz="1800" b="1" kern="0" spc="0" dirty="0">
              <a:solidFill>
                <a:srgbClr val="000000"/>
              </a:solidFill>
              <a:effectLst/>
              <a:latin typeface="한양신명조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906953B-4D28-4B36-A4F4-1EC9BC77E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444" y="1608101"/>
            <a:ext cx="4995101" cy="2789261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9A0AD7D-4980-4D08-AB55-64C1DB58ED89}"/>
              </a:ext>
            </a:extLst>
          </p:cNvPr>
          <p:cNvCxnSpPr>
            <a:cxnSpLocks/>
          </p:cNvCxnSpPr>
          <p:nvPr/>
        </p:nvCxnSpPr>
        <p:spPr>
          <a:xfrm>
            <a:off x="6355631" y="1229578"/>
            <a:ext cx="0" cy="41955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370E5229-7B0C-598A-36EA-82501B14641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7" t="11295" r="51652" b="56822"/>
          <a:stretch/>
        </p:blipFill>
        <p:spPr>
          <a:xfrm>
            <a:off x="5883335" y="6466424"/>
            <a:ext cx="1132311" cy="36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867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89DBDE-7857-C09A-C621-8D251378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800" y="6393247"/>
            <a:ext cx="2743200" cy="365125"/>
          </a:xfrm>
        </p:spPr>
        <p:txBody>
          <a:bodyPr/>
          <a:lstStyle/>
          <a:p>
            <a:fld id="{D3060201-1C40-4B39-813D-5CD9493BAEED}" type="slidenum">
              <a:rPr lang="en-US" smtClean="0"/>
              <a:t>13</a:t>
            </a:fld>
            <a:endParaRPr 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42FF751-3820-8E67-A8E9-8E6722B19A58}"/>
              </a:ext>
            </a:extLst>
          </p:cNvPr>
          <p:cNvCxnSpPr/>
          <p:nvPr/>
        </p:nvCxnSpPr>
        <p:spPr>
          <a:xfrm>
            <a:off x="336000" y="6356350"/>
            <a:ext cx="11520000" cy="0"/>
          </a:xfrm>
          <a:prstGeom prst="line">
            <a:avLst/>
          </a:prstGeom>
          <a:ln w="63500" cmpd="dbl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7AE42FD-771C-5070-9A3C-FC47B06C93B6}"/>
              </a:ext>
            </a:extLst>
          </p:cNvPr>
          <p:cNvSpPr txBox="1"/>
          <p:nvPr/>
        </p:nvSpPr>
        <p:spPr>
          <a:xfrm>
            <a:off x="336000" y="339830"/>
            <a:ext cx="35702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highlight>
                  <a:srgbClr val="00FFFF"/>
                </a:highlight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  </a:t>
            </a:r>
            <a:r>
              <a:rPr lang="en-US" altLang="ko-KR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Ⅳ. </a:t>
            </a:r>
            <a:r>
              <a:rPr lang="ko-KR" altLang="en-US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실험 결과 및 분석</a:t>
            </a:r>
            <a:endParaRPr lang="en-US" altLang="ko-KR" sz="2400" dirty="0">
              <a:latin typeface="210 청춘시대 R" panose="02020603020101020101" pitchFamily="18" charset="-127"/>
              <a:ea typeface="210 청춘시대 R" panose="02020603020101020101" pitchFamily="18" charset="-127"/>
              <a:cs typeface="Times New Roman" panose="02020603050405020304" pitchFamily="18" charset="0"/>
            </a:endParaRPr>
          </a:p>
          <a:p>
            <a:endParaRPr lang="en-US" altLang="ko-KR" sz="2400" dirty="0">
              <a:latin typeface="210 청춘시대 R" panose="02020603020101020101" pitchFamily="18" charset="-127"/>
              <a:ea typeface="210 청춘시대 R" panose="02020603020101020101" pitchFamily="18" charset="-127"/>
              <a:cs typeface="Times New Roman" panose="02020603050405020304" pitchFamily="18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D76A74A-086B-FFFE-39F3-3170965685AC}"/>
              </a:ext>
            </a:extLst>
          </p:cNvPr>
          <p:cNvCxnSpPr/>
          <p:nvPr/>
        </p:nvCxnSpPr>
        <p:spPr>
          <a:xfrm>
            <a:off x="357771" y="913497"/>
            <a:ext cx="11520000" cy="0"/>
          </a:xfrm>
          <a:prstGeom prst="line">
            <a:avLst/>
          </a:prstGeom>
          <a:ln w="44450" cmpd="sng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370E5229-7B0C-598A-36EA-82501B1464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7" t="11295" r="51652" b="56822"/>
          <a:stretch/>
        </p:blipFill>
        <p:spPr>
          <a:xfrm>
            <a:off x="5572474" y="6398923"/>
            <a:ext cx="1132311" cy="368197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24AC58D-EF69-4C3D-8AEC-D9C1CCA84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46207"/>
              </p:ext>
            </p:extLst>
          </p:nvPr>
        </p:nvGraphicFramePr>
        <p:xfrm>
          <a:off x="914399" y="1919836"/>
          <a:ext cx="10520040" cy="392820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14727">
                  <a:extLst>
                    <a:ext uri="{9D8B030D-6E8A-4147-A177-3AD203B41FA5}">
                      <a16:colId xmlns:a16="http://schemas.microsoft.com/office/drawing/2014/main" val="2740853806"/>
                    </a:ext>
                  </a:extLst>
                </a:gridCol>
                <a:gridCol w="2654424">
                  <a:extLst>
                    <a:ext uri="{9D8B030D-6E8A-4147-A177-3AD203B41FA5}">
                      <a16:colId xmlns:a16="http://schemas.microsoft.com/office/drawing/2014/main" val="578805243"/>
                    </a:ext>
                  </a:extLst>
                </a:gridCol>
                <a:gridCol w="2760955">
                  <a:extLst>
                    <a:ext uri="{9D8B030D-6E8A-4147-A177-3AD203B41FA5}">
                      <a16:colId xmlns:a16="http://schemas.microsoft.com/office/drawing/2014/main" val="177524467"/>
                    </a:ext>
                  </a:extLst>
                </a:gridCol>
                <a:gridCol w="2689934">
                  <a:extLst>
                    <a:ext uri="{9D8B030D-6E8A-4147-A177-3AD203B41FA5}">
                      <a16:colId xmlns:a16="http://schemas.microsoft.com/office/drawing/2014/main" val="3677812694"/>
                    </a:ext>
                  </a:extLst>
                </a:gridCol>
              </a:tblGrid>
              <a:tr h="71368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Easy group</a:t>
                      </a:r>
                    </a:p>
                    <a:p>
                      <a:pPr latinLnBrk="1"/>
                      <a:r>
                        <a:rPr lang="en-US" altLang="ko-KR" dirty="0"/>
                        <a:t>(e.g., easy-first)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Medium group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(e.g., Medium-first)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Hard group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(e.g., Hard-first)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843314"/>
                  </a:ext>
                </a:extLst>
              </a:tr>
              <a:tr h="7508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Without noise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0070C0"/>
                          </a:solidFill>
                        </a:rPr>
                        <a:t>Clean</a:t>
                      </a:r>
                      <a:r>
                        <a:rPr lang="en-US" altLang="ko-KR" dirty="0"/>
                        <a:t> &amp; </a:t>
                      </a:r>
                      <a:r>
                        <a:rPr lang="en-US" altLang="ko-KR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easy</a:t>
                      </a:r>
                      <a:endParaRPr lang="ko-KR" altLang="en-US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</a:rPr>
                        <a:t>Clean</a:t>
                      </a:r>
                      <a:r>
                        <a:rPr lang="en-US" altLang="ko-KR" dirty="0"/>
                        <a:t> &amp;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</a:rPr>
                        <a:t>me </a:t>
                      </a:r>
                      <a:r>
                        <a:rPr lang="en-US" altLang="ko-KR" dirty="0" err="1">
                          <a:solidFill>
                            <a:schemeClr val="accent4"/>
                          </a:solidFill>
                        </a:rPr>
                        <a:t>dium</a:t>
                      </a:r>
                      <a:endParaRPr lang="ko-KR" altLang="en-US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</a:rPr>
                        <a:t>Clean</a:t>
                      </a:r>
                      <a:r>
                        <a:rPr lang="en-US" altLang="ko-KR" dirty="0"/>
                        <a:t> &amp;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hard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44983"/>
                  </a:ext>
                </a:extLst>
              </a:tr>
              <a:tr h="1231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Weak noise</a:t>
                      </a:r>
                    </a:p>
                    <a:p>
                      <a:pPr latinLnBrk="1"/>
                      <a:r>
                        <a:rPr lang="en-US" altLang="ko-KR" dirty="0"/>
                        <a:t>(e.g., 10%,30%)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0070C0"/>
                          </a:solidFill>
                        </a:rPr>
                        <a:t>Clean</a:t>
                      </a:r>
                      <a:r>
                        <a:rPr lang="en-US" altLang="ko-KR" dirty="0"/>
                        <a:t> &amp; </a:t>
                      </a:r>
                      <a:r>
                        <a:rPr lang="en-US" altLang="ko-KR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easy</a:t>
                      </a:r>
                    </a:p>
                    <a:p>
                      <a:pPr latinLnBrk="1"/>
                      <a:r>
                        <a:rPr lang="en-US" altLang="ko-KR" dirty="0"/>
                        <a:t>+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</a:rPr>
                        <a:t>clean</a:t>
                      </a:r>
                      <a:r>
                        <a:rPr lang="en-US" altLang="ko-KR" dirty="0"/>
                        <a:t> &amp;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</a:rPr>
                        <a:t>medium</a:t>
                      </a:r>
                      <a:endParaRPr lang="ko-KR" altLang="en-US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0070C0"/>
                          </a:solidFill>
                        </a:rPr>
                        <a:t>Clean</a:t>
                      </a:r>
                      <a:r>
                        <a:rPr lang="en-US" altLang="ko-KR" dirty="0"/>
                        <a:t> &amp;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hard</a:t>
                      </a:r>
                      <a:r>
                        <a:rPr lang="en-US" altLang="ko-KR" dirty="0"/>
                        <a:t> </a:t>
                      </a:r>
                    </a:p>
                    <a:p>
                      <a:pPr latinLnBrk="1"/>
                      <a:r>
                        <a:rPr lang="en-US" altLang="ko-KR" dirty="0"/>
                        <a:t>+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</a:rPr>
                        <a:t>clean</a:t>
                      </a:r>
                      <a:r>
                        <a:rPr lang="en-US" altLang="ko-KR" dirty="0"/>
                        <a:t> &amp;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</a:rPr>
                        <a:t>medium</a:t>
                      </a:r>
                      <a:endParaRPr lang="ko-KR" altLang="en-US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Noisy</a:t>
                      </a:r>
                      <a:r>
                        <a:rPr lang="en-US" altLang="ko-KR" dirty="0"/>
                        <a:t> &amp; all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782485"/>
                  </a:ext>
                </a:extLst>
              </a:tr>
              <a:tr h="1231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Strong noise</a:t>
                      </a:r>
                    </a:p>
                    <a:p>
                      <a:pPr latinLnBrk="1"/>
                      <a:r>
                        <a:rPr lang="en-US" altLang="ko-KR" dirty="0"/>
                        <a:t>(e.g., 50%)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0070C0"/>
                          </a:solidFill>
                        </a:rPr>
                        <a:t>Clean</a:t>
                      </a:r>
                      <a:r>
                        <a:rPr lang="en-US" altLang="ko-KR" dirty="0"/>
                        <a:t> &amp; </a:t>
                      </a:r>
                      <a:r>
                        <a:rPr lang="en-US" altLang="ko-KR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easy</a:t>
                      </a:r>
                    </a:p>
                    <a:p>
                      <a:pPr latinLnBrk="1"/>
                      <a:r>
                        <a:rPr lang="en-US" altLang="ko-KR" dirty="0"/>
                        <a:t>+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</a:rPr>
                        <a:t>clean</a:t>
                      </a:r>
                      <a:r>
                        <a:rPr lang="en-US" altLang="ko-KR" dirty="0"/>
                        <a:t> &amp;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</a:rPr>
                        <a:t>medium</a:t>
                      </a:r>
                      <a:endParaRPr lang="ko-KR" altLang="en-US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0070C0"/>
                          </a:solidFill>
                        </a:rPr>
                        <a:t>Clean</a:t>
                      </a:r>
                      <a:r>
                        <a:rPr lang="en-US" altLang="ko-KR" dirty="0"/>
                        <a:t> &amp;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hard</a:t>
                      </a:r>
                      <a:r>
                        <a:rPr lang="en-US" altLang="ko-KR" dirty="0"/>
                        <a:t> </a:t>
                      </a:r>
                    </a:p>
                    <a:p>
                      <a:pPr latinLnBrk="1"/>
                      <a:r>
                        <a:rPr lang="en-US" altLang="ko-KR" dirty="0"/>
                        <a:t>+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noisy</a:t>
                      </a:r>
                      <a:r>
                        <a:rPr lang="en-US" altLang="ko-KR" dirty="0"/>
                        <a:t>  &amp; </a:t>
                      </a:r>
                      <a:r>
                        <a:rPr lang="en-US" altLang="ko-KR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easy</a:t>
                      </a:r>
                      <a:endParaRPr lang="ko-KR" altLang="en-US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Noisy</a:t>
                      </a:r>
                      <a:r>
                        <a:rPr lang="en-US" altLang="ko-KR" dirty="0"/>
                        <a:t> &amp;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</a:rPr>
                        <a:t>medium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+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Noisy</a:t>
                      </a:r>
                      <a:r>
                        <a:rPr lang="en-US" altLang="ko-KR" dirty="0"/>
                        <a:t> &amp;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hard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471259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661E75A-22C9-5C09-ACA5-03877A2AA211}"/>
              </a:ext>
            </a:extLst>
          </p:cNvPr>
          <p:cNvSpPr/>
          <p:nvPr/>
        </p:nvSpPr>
        <p:spPr>
          <a:xfrm>
            <a:off x="419948" y="1197955"/>
            <a:ext cx="2380416" cy="48117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실험 결과 분석</a:t>
            </a:r>
          </a:p>
        </p:txBody>
      </p:sp>
    </p:spTree>
    <p:extLst>
      <p:ext uri="{BB962C8B-B14F-4D97-AF65-F5344CB8AC3E}">
        <p14:creationId xmlns:p14="http://schemas.microsoft.com/office/powerpoint/2010/main" val="566159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89DBDE-7857-C09A-C621-8D251378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800" y="6393247"/>
            <a:ext cx="2743200" cy="365125"/>
          </a:xfrm>
        </p:spPr>
        <p:txBody>
          <a:bodyPr/>
          <a:lstStyle/>
          <a:p>
            <a:fld id="{D3060201-1C40-4B39-813D-5CD9493BAEED}" type="slidenum">
              <a:rPr lang="en-US" smtClean="0"/>
              <a:t>14</a:t>
            </a:fld>
            <a:endParaRPr 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42FF751-3820-8E67-A8E9-8E6722B19A58}"/>
              </a:ext>
            </a:extLst>
          </p:cNvPr>
          <p:cNvCxnSpPr/>
          <p:nvPr/>
        </p:nvCxnSpPr>
        <p:spPr>
          <a:xfrm>
            <a:off x="336000" y="6356350"/>
            <a:ext cx="11520000" cy="0"/>
          </a:xfrm>
          <a:prstGeom prst="line">
            <a:avLst/>
          </a:prstGeom>
          <a:ln w="63500" cmpd="dbl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7AE42FD-771C-5070-9A3C-FC47B06C93B6}"/>
              </a:ext>
            </a:extLst>
          </p:cNvPr>
          <p:cNvSpPr txBox="1"/>
          <p:nvPr/>
        </p:nvSpPr>
        <p:spPr>
          <a:xfrm>
            <a:off x="397907" y="332492"/>
            <a:ext cx="1829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highlight>
                  <a:srgbClr val="00FFFF"/>
                </a:highlight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  </a:t>
            </a:r>
            <a:r>
              <a:rPr lang="en-US" altLang="ko-KR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 Ⅴ. </a:t>
            </a:r>
            <a:r>
              <a:rPr lang="ko-KR" altLang="en-US" sz="24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Times New Roman" panose="02020603050405020304" pitchFamily="18" charset="0"/>
              </a:rPr>
              <a:t>결 론</a:t>
            </a:r>
            <a:endParaRPr lang="en-US" altLang="ko-KR" sz="2400" dirty="0">
              <a:latin typeface="210 청춘시대 R" panose="02020603020101020101" pitchFamily="18" charset="-127"/>
              <a:ea typeface="210 청춘시대 R" panose="02020603020101020101" pitchFamily="18" charset="-127"/>
              <a:cs typeface="Times New Roman" panose="02020603050405020304" pitchFamily="18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D76A74A-086B-FFFE-39F3-3170965685AC}"/>
              </a:ext>
            </a:extLst>
          </p:cNvPr>
          <p:cNvCxnSpPr/>
          <p:nvPr/>
        </p:nvCxnSpPr>
        <p:spPr>
          <a:xfrm>
            <a:off x="357771" y="913497"/>
            <a:ext cx="11520000" cy="0"/>
          </a:xfrm>
          <a:prstGeom prst="line">
            <a:avLst/>
          </a:prstGeom>
          <a:ln w="44450" cmpd="sng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11D4EFA6-C3D0-CCD5-EA41-9A4391D2BC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7" t="11295" r="51652" b="56822"/>
          <a:stretch/>
        </p:blipFill>
        <p:spPr>
          <a:xfrm>
            <a:off x="5110977" y="6407925"/>
            <a:ext cx="1132311" cy="368197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2F30D58-AAD4-DDBB-E4B3-5D0D4F091C46}"/>
              </a:ext>
            </a:extLst>
          </p:cNvPr>
          <p:cNvCxnSpPr/>
          <p:nvPr/>
        </p:nvCxnSpPr>
        <p:spPr>
          <a:xfrm>
            <a:off x="336000" y="6356350"/>
            <a:ext cx="11520000" cy="0"/>
          </a:xfrm>
          <a:prstGeom prst="line">
            <a:avLst/>
          </a:prstGeom>
          <a:ln w="63500" cmpd="dbl">
            <a:solidFill>
              <a:schemeClr val="tx1"/>
            </a:solidFill>
            <a:prstDash val="solid"/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642776E-B7FC-1BF6-8646-596706676BFE}"/>
              </a:ext>
            </a:extLst>
          </p:cNvPr>
          <p:cNvSpPr txBox="1"/>
          <p:nvPr/>
        </p:nvSpPr>
        <p:spPr>
          <a:xfrm>
            <a:off x="781947" y="1163489"/>
            <a:ext cx="10713367" cy="506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600" dirty="0">
                <a:latin typeface="210 청춘시대 R" panose="02020603020101020101" pitchFamily="18" charset="-127"/>
                <a:ea typeface="210 청춘시대 R" panose="02020603020101020101" pitchFamily="18" charset="-127"/>
                <a:cs typeface="맑은 고딕 Semilight" panose="020B0502040204020203" pitchFamily="50" charset="-127"/>
              </a:rPr>
              <a:t> 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827F902-D563-3201-B707-EA6E418DF36C}"/>
              </a:ext>
            </a:extLst>
          </p:cNvPr>
          <p:cNvSpPr/>
          <p:nvPr/>
        </p:nvSpPr>
        <p:spPr>
          <a:xfrm>
            <a:off x="870012" y="1669844"/>
            <a:ext cx="4194537" cy="763479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</a:rPr>
              <a:t>노이즈 </a:t>
            </a:r>
            <a:r>
              <a:rPr lang="en-US" altLang="ko-KR" sz="2400" dirty="0">
                <a:solidFill>
                  <a:schemeClr val="tx1"/>
                </a:solidFill>
              </a:rPr>
              <a:t>X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78FB418-98A8-FEB0-C821-0B5FE3105BA3}"/>
              </a:ext>
            </a:extLst>
          </p:cNvPr>
          <p:cNvSpPr/>
          <p:nvPr/>
        </p:nvSpPr>
        <p:spPr>
          <a:xfrm>
            <a:off x="6684885" y="1669844"/>
            <a:ext cx="4194537" cy="763479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</a:rPr>
              <a:t>노이즈 </a:t>
            </a:r>
            <a:r>
              <a:rPr lang="en-US" altLang="ko-KR" sz="2400" dirty="0">
                <a:solidFill>
                  <a:schemeClr val="tx1"/>
                </a:solidFill>
              </a:rPr>
              <a:t>O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6E89B32-C67F-5D00-16D5-BBFDD750FECB}"/>
              </a:ext>
            </a:extLst>
          </p:cNvPr>
          <p:cNvSpPr/>
          <p:nvPr/>
        </p:nvSpPr>
        <p:spPr>
          <a:xfrm>
            <a:off x="870012" y="2867488"/>
            <a:ext cx="4194537" cy="273250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</a:rPr>
              <a:t>모든 방법의 성능이 유사함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A4E4760-2BC6-FCC5-438E-48462EEA4C78}"/>
              </a:ext>
            </a:extLst>
          </p:cNvPr>
          <p:cNvSpPr/>
          <p:nvPr/>
        </p:nvSpPr>
        <p:spPr>
          <a:xfrm>
            <a:off x="6684886" y="2867490"/>
            <a:ext cx="4181254" cy="12073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</a:rPr>
              <a:t>노이즈</a:t>
            </a:r>
            <a:r>
              <a:rPr lang="en-US" altLang="ko-KR" sz="2400" dirty="0">
                <a:solidFill>
                  <a:schemeClr val="tx1"/>
                </a:solidFill>
              </a:rPr>
              <a:t>10%, 30% : </a:t>
            </a:r>
          </a:p>
          <a:p>
            <a:pPr algn="ctr"/>
            <a:r>
              <a:rPr lang="en-US" altLang="ko-KR" sz="2400" dirty="0">
                <a:solidFill>
                  <a:schemeClr val="tx1"/>
                </a:solidFill>
              </a:rPr>
              <a:t>Easy-to-Medium 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00DED7C-1044-297B-B6F5-8A52EB31CE22}"/>
              </a:ext>
            </a:extLst>
          </p:cNvPr>
          <p:cNvSpPr/>
          <p:nvPr/>
        </p:nvSpPr>
        <p:spPr>
          <a:xfrm>
            <a:off x="6684885" y="4243532"/>
            <a:ext cx="4181253" cy="115642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</a:rPr>
              <a:t>노이즈  </a:t>
            </a:r>
            <a:r>
              <a:rPr lang="en-US" altLang="ko-KR" sz="2400" dirty="0">
                <a:solidFill>
                  <a:schemeClr val="tx1"/>
                </a:solidFill>
              </a:rPr>
              <a:t>50%  : Easy-First 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8153B5A-177F-A122-3FCF-8088EB677B9D}"/>
              </a:ext>
            </a:extLst>
          </p:cNvPr>
          <p:cNvCxnSpPr>
            <a:cxnSpLocks/>
          </p:cNvCxnSpPr>
          <p:nvPr/>
        </p:nvCxnSpPr>
        <p:spPr>
          <a:xfrm>
            <a:off x="5906002" y="1163489"/>
            <a:ext cx="0" cy="508831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4C68D9F-6CC0-6DA7-2E84-4B316A3CE03F}"/>
              </a:ext>
            </a:extLst>
          </p:cNvPr>
          <p:cNvSpPr txBox="1"/>
          <p:nvPr/>
        </p:nvSpPr>
        <p:spPr>
          <a:xfrm>
            <a:off x="7646955" y="5965760"/>
            <a:ext cx="2743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노이즈 데이터에 성능 우수 </a:t>
            </a:r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27E76738-EAEF-17E4-4C44-795A451BE04B}"/>
              </a:ext>
            </a:extLst>
          </p:cNvPr>
          <p:cNvSpPr/>
          <p:nvPr/>
        </p:nvSpPr>
        <p:spPr>
          <a:xfrm>
            <a:off x="8633406" y="5458113"/>
            <a:ext cx="479394" cy="507647"/>
          </a:xfrm>
          <a:prstGeom prst="downArrow">
            <a:avLst>
              <a:gd name="adj1" fmla="val 50000"/>
              <a:gd name="adj2" fmla="val 48251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804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666CBED-99E2-A936-01E8-7816BD582EA2}"/>
              </a:ext>
            </a:extLst>
          </p:cNvPr>
          <p:cNvCxnSpPr>
            <a:cxnSpLocks/>
          </p:cNvCxnSpPr>
          <p:nvPr/>
        </p:nvCxnSpPr>
        <p:spPr>
          <a:xfrm>
            <a:off x="4023171" y="3818222"/>
            <a:ext cx="4142600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F52CE8-0C32-8554-1783-EBEE60A40083}"/>
              </a:ext>
            </a:extLst>
          </p:cNvPr>
          <p:cNvSpPr txBox="1"/>
          <p:nvPr/>
        </p:nvSpPr>
        <p:spPr>
          <a:xfrm>
            <a:off x="3550969" y="2987225"/>
            <a:ext cx="50870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latin typeface="210 청춘시대 R" panose="02020603020101020101" pitchFamily="18" charset="-127"/>
                <a:ea typeface="210 청춘시대 R" panose="02020603020101020101" pitchFamily="18" charset="-127"/>
              </a:rPr>
              <a:t>감사합니다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FDFFFC-EBF4-D096-6AB8-57F5E5836707}"/>
              </a:ext>
            </a:extLst>
          </p:cNvPr>
          <p:cNvSpPr txBox="1"/>
          <p:nvPr/>
        </p:nvSpPr>
        <p:spPr>
          <a:xfrm>
            <a:off x="4023171" y="6072667"/>
            <a:ext cx="4584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Times New Roman" panose="02020603050405020304" pitchFamily="18" charset="0"/>
                <a:ea typeface="210 청춘시대 R" panose="02020603020101020101" pitchFamily="18" charset="-127"/>
                <a:cs typeface="Times New Roman" panose="02020603050405020304" pitchFamily="18" charset="0"/>
              </a:rPr>
              <a:t>Gunhee</a:t>
            </a:r>
            <a:r>
              <a:rPr lang="en-US" altLang="ko-KR" sz="1400" dirty="0">
                <a:latin typeface="Times New Roman" panose="02020603050405020304" pitchFamily="18" charset="0"/>
                <a:ea typeface="210 청춘시대 R" panose="02020603020101020101" pitchFamily="18" charset="-127"/>
                <a:cs typeface="Times New Roman" panose="02020603050405020304" pitchFamily="18" charset="0"/>
              </a:rPr>
              <a:t> Son</a:t>
            </a:r>
            <a:r>
              <a:rPr lang="en-US" altLang="ko-KR" sz="1400" dirty="0"/>
              <a:t>: </a:t>
            </a:r>
            <a:r>
              <a:rPr lang="en-US" altLang="ko-KR" sz="14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songunhee5426@gmail.com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휴먼명조"/>
            </a:endParaRPr>
          </a:p>
          <a:p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휴먼명조"/>
              </a:rPr>
              <a:t>Sunghyun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휴먼명조"/>
              </a:rPr>
              <a:t> Yoon :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휴먼명조"/>
                <a:hlinkClick r:id="rId3"/>
              </a:rPr>
              <a:t>syoon@kongju.ac.kr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Arial" panose="020B0604020202020204" pitchFamily="34" charset="0"/>
              <a:ea typeface="휴먼명조"/>
            </a:endParaRPr>
          </a:p>
        </p:txBody>
      </p:sp>
    </p:spTree>
    <p:extLst>
      <p:ext uri="{BB962C8B-B14F-4D97-AF65-F5344CB8AC3E}">
        <p14:creationId xmlns:p14="http://schemas.microsoft.com/office/powerpoint/2010/main" val="2338414247"/>
      </p:ext>
    </p:extLst>
  </p:cSld>
  <p:clrMapOvr>
    <a:masterClrMapping/>
  </p:clrMapOvr>
</p:sld>
</file>

<file path=ppt/theme/theme1.xml><?xml version="1.0" encoding="utf-8"?>
<a:theme xmlns:a="http://schemas.openxmlformats.org/drawingml/2006/main" name="FadeVTI">
  <a:themeElements>
    <a:clrScheme name="gradient">
      <a:dk1>
        <a:sysClr val="windowText" lastClr="000000"/>
      </a:dk1>
      <a:lt1>
        <a:sysClr val="window" lastClr="FFFFFF"/>
      </a:lt1>
      <a:dk2>
        <a:srgbClr val="203040"/>
      </a:dk2>
      <a:lt2>
        <a:srgbClr val="ECF0F0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DA2A69"/>
      </a:accent6>
      <a:hlink>
        <a:srgbClr val="3E8FF1"/>
      </a:hlink>
      <a:folHlink>
        <a:srgbClr val="939393"/>
      </a:folHlink>
    </a:clrScheme>
    <a:fontScheme name="Custom 49">
      <a:majorFont>
        <a:latin typeface="Microsoft GothicNeo"/>
        <a:ea typeface=""/>
        <a:cs typeface=""/>
      </a:majorFont>
      <a:minorFont>
        <a:latin typeface="Microsoft GothicNe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deVTI" id="{1194088A-B135-4437-9FD8-7466BBC13A13}" vid="{B787DE2F-1995-45D8-A8E2-6B5CC521AC5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9796</TotalTime>
  <Words>583</Words>
  <Application>Microsoft Office PowerPoint</Application>
  <PresentationFormat>와이드스크린</PresentationFormat>
  <Paragraphs>137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7" baseType="lpstr">
      <vt:lpstr>210 청춘시대 R</vt:lpstr>
      <vt:lpstr>Microsoft GothicNeo</vt:lpstr>
      <vt:lpstr>돋움</vt:lpstr>
      <vt:lpstr>맑은 고딕</vt:lpstr>
      <vt:lpstr>한양신명조</vt:lpstr>
      <vt:lpstr>휴먼명조</vt:lpstr>
      <vt:lpstr>Aharoni</vt:lpstr>
      <vt:lpstr>Arial</vt:lpstr>
      <vt:lpstr>Cambria Math</vt:lpstr>
      <vt:lpstr>Times New Roman</vt:lpstr>
      <vt:lpstr>Wingdings</vt:lpstr>
      <vt:lpstr>FadeVTI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유진 한</dc:creator>
  <cp:lastModifiedBy>주희 손</cp:lastModifiedBy>
  <cp:revision>242</cp:revision>
  <dcterms:created xsi:type="dcterms:W3CDTF">2024-05-05T02:23:31Z</dcterms:created>
  <dcterms:modified xsi:type="dcterms:W3CDTF">2024-05-24T03:24:46Z</dcterms:modified>
</cp:coreProperties>
</file>